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11"/>
  </p:notesMasterIdLst>
  <p:sldIdLst>
    <p:sldId id="256" r:id="rId2"/>
    <p:sldId id="260" r:id="rId3"/>
    <p:sldId id="302" r:id="rId4"/>
    <p:sldId id="303" r:id="rId5"/>
    <p:sldId id="305" r:id="rId6"/>
    <p:sldId id="304" r:id="rId7"/>
    <p:sldId id="306" r:id="rId8"/>
    <p:sldId id="307" r:id="rId9"/>
    <p:sldId id="299" r:id="rId10"/>
  </p:sldIdLst>
  <p:sldSz cx="9144000" cy="5143500" type="screen16x9"/>
  <p:notesSz cx="6858000" cy="9144000"/>
  <p:embeddedFontLst>
    <p:embeddedFont>
      <p:font typeface="Albert Sans" panose="020B0604020202020204" charset="0"/>
      <p:regular r:id="rId12"/>
      <p:bold r:id="rId13"/>
      <p:italic r:id="rId14"/>
      <p:boldItalic r:id="rId15"/>
    </p:embeddedFont>
    <p:embeddedFont>
      <p:font typeface="Syne" panose="020B0604020202020204" charset="0"/>
      <p:regular r:id="rId16"/>
      <p:bold r:id="rId17"/>
    </p:embeddedFont>
    <p:embeddedFont>
      <p:font typeface="Syne SemiBold" panose="020B0604020202020204" charset="0"/>
      <p:regular r:id="rId18"/>
      <p:bold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E916D7E-B1F2-4363-AD6B-94603CCC6F66}">
  <a:tblStyle styleId="{EE916D7E-B1F2-4363-AD6B-94603CCC6F6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713A88F-8DAB-4929-A60B-3B079C2808B4}"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9" d="100"/>
          <a:sy n="149" d="100"/>
        </p:scale>
        <p:origin x="50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CF98F3D3-89EC-E7FA-0DDD-E79E20DED6B9}"/>
            </a:ext>
          </a:extLst>
        </p:cNvPr>
        <p:cNvGrpSpPr/>
        <p:nvPr/>
      </p:nvGrpSpPr>
      <p:grpSpPr>
        <a:xfrm>
          <a:off x="0" y="0"/>
          <a:ext cx="0" cy="0"/>
          <a:chOff x="0" y="0"/>
          <a:chExt cx="0" cy="0"/>
        </a:xfrm>
      </p:grpSpPr>
      <p:sp>
        <p:nvSpPr>
          <p:cNvPr id="124" name="Google Shape;124;g4dfce81f19_0_45:notes">
            <a:extLst>
              <a:ext uri="{FF2B5EF4-FFF2-40B4-BE49-F238E27FC236}">
                <a16:creationId xmlns:a16="http://schemas.microsoft.com/office/drawing/2014/main" id="{F79541DE-E014-AF78-E3E6-10060D1F64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4dfce81f19_0_45:notes">
            <a:extLst>
              <a:ext uri="{FF2B5EF4-FFF2-40B4-BE49-F238E27FC236}">
                <a16:creationId xmlns:a16="http://schemas.microsoft.com/office/drawing/2014/main" id="{72EBC846-BFEB-1C7F-1EA0-CF7A52E564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60373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title="techstartup-osc.jpg"/>
          <p:cNvPicPr preferRelativeResize="0"/>
          <p:nvPr/>
        </p:nvPicPr>
        <p:blipFill rotWithShape="1">
          <a:blip r:embed="rId2">
            <a:alphaModFix/>
          </a:blip>
          <a:srcRect/>
          <a:stretch/>
        </p:blipFill>
        <p:spPr>
          <a:xfrm>
            <a:off x="0" y="0"/>
            <a:ext cx="9144000" cy="5143500"/>
          </a:xfrm>
          <a:prstGeom prst="rect">
            <a:avLst/>
          </a:prstGeom>
          <a:noFill/>
          <a:ln w="9525" cap="flat" cmpd="sng">
            <a:solidFill>
              <a:srgbClr val="FFFFFF"/>
            </a:solidFill>
            <a:prstDash val="solid"/>
            <a:round/>
            <a:headEnd type="none" w="sm" len="sm"/>
            <a:tailEnd type="none" w="sm" len="sm"/>
          </a:ln>
        </p:spPr>
      </p:pic>
      <p:sp>
        <p:nvSpPr>
          <p:cNvPr id="10" name="Google Shape;10;p2"/>
          <p:cNvSpPr txBox="1">
            <a:spLocks noGrp="1"/>
          </p:cNvSpPr>
          <p:nvPr>
            <p:ph type="ctrTitle"/>
          </p:nvPr>
        </p:nvSpPr>
        <p:spPr>
          <a:xfrm>
            <a:off x="713225" y="539500"/>
            <a:ext cx="7717500" cy="9072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000" b="0">
                <a:latin typeface="Syne SemiBold"/>
                <a:ea typeface="Syne SemiBold"/>
                <a:cs typeface="Syne SemiBold"/>
                <a:sym typeface="Syne SemiBold"/>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5389400" y="3946400"/>
            <a:ext cx="3041400" cy="6576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pic>
        <p:nvPicPr>
          <p:cNvPr id="13" name="Google Shape;13;p3" title="techstartup-osc.jpg"/>
          <p:cNvPicPr preferRelativeResize="0"/>
          <p:nvPr/>
        </p:nvPicPr>
        <p:blipFill rotWithShape="1">
          <a:blip r:embed="rId2">
            <a:alphaModFix/>
          </a:blip>
          <a:srcRect t="31124" r="31124"/>
          <a:stretch/>
        </p:blipFill>
        <p:spPr>
          <a:xfrm>
            <a:off x="0" y="0"/>
            <a:ext cx="9144000" cy="5143500"/>
          </a:xfrm>
          <a:prstGeom prst="rect">
            <a:avLst/>
          </a:prstGeom>
          <a:noFill/>
          <a:ln w="9525" cap="flat" cmpd="sng">
            <a:solidFill>
              <a:srgbClr val="FFFFFF"/>
            </a:solidFill>
            <a:prstDash val="solid"/>
            <a:round/>
            <a:headEnd type="none" w="sm" len="sm"/>
            <a:tailEnd type="none" w="sm" len="sm"/>
          </a:ln>
        </p:spPr>
      </p:pic>
      <p:sp>
        <p:nvSpPr>
          <p:cNvPr id="14" name="Google Shape;14;p3"/>
          <p:cNvSpPr txBox="1">
            <a:spLocks noGrp="1"/>
          </p:cNvSpPr>
          <p:nvPr>
            <p:ph type="title"/>
          </p:nvPr>
        </p:nvSpPr>
        <p:spPr>
          <a:xfrm>
            <a:off x="713225" y="3585200"/>
            <a:ext cx="7717800" cy="1018800"/>
          </a:xfrm>
          <a:prstGeom prst="rect">
            <a:avLst/>
          </a:prstGeom>
        </p:spPr>
        <p:txBody>
          <a:bodyPr spcFirstLastPara="1" wrap="square" lIns="91425" tIns="91425" rIns="91425" bIns="91425" anchor="t" anchorCtr="0">
            <a:noAutofit/>
          </a:bodyPr>
          <a:lstStyle>
            <a:lvl1pPr lvl="0" algn="r">
              <a:spcBef>
                <a:spcPts val="0"/>
              </a:spcBef>
              <a:spcAft>
                <a:spcPts val="0"/>
              </a:spcAft>
              <a:buSzPts val="3600"/>
              <a:buNone/>
              <a:defRPr sz="5000" b="0">
                <a:latin typeface="Syne SemiBold"/>
                <a:ea typeface="Syne SemiBold"/>
                <a:cs typeface="Syne SemiBold"/>
                <a:sym typeface="Syne SemiBold"/>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713225" y="499725"/>
            <a:ext cx="1267500" cy="684600"/>
          </a:xfrm>
          <a:prstGeom prst="rect">
            <a:avLst/>
          </a:prstGeom>
          <a:noFill/>
        </p:spPr>
        <p:txBody>
          <a:bodyPr spcFirstLastPara="1" wrap="square" lIns="91425" tIns="91425" rIns="91425" bIns="91425" anchor="b" anchorCtr="0">
            <a:noAutofit/>
          </a:bodyPr>
          <a:lstStyle>
            <a:lvl1pPr lvl="0" rtl="0">
              <a:spcBef>
                <a:spcPts val="0"/>
              </a:spcBef>
              <a:spcAft>
                <a:spcPts val="0"/>
              </a:spcAft>
              <a:buClr>
                <a:schemeClr val="lt1"/>
              </a:buClr>
              <a:buSzPts val="6000"/>
              <a:buNone/>
              <a:defRPr sz="4000" b="0">
                <a:latin typeface="Syne SemiBold"/>
                <a:ea typeface="Syne SemiBold"/>
                <a:cs typeface="Syne SemiBold"/>
                <a:sym typeface="Syne SemiBold"/>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pic>
        <p:nvPicPr>
          <p:cNvPr id="31" name="Google Shape;31;p7" title="techstartup-osc3.jpg"/>
          <p:cNvPicPr preferRelativeResize="0"/>
          <p:nvPr/>
        </p:nvPicPr>
        <p:blipFill rotWithShape="1">
          <a:blip r:embed="rId2">
            <a:alphaModFix/>
          </a:blip>
          <a:srcRect/>
          <a:stretch/>
        </p:blipFill>
        <p:spPr>
          <a:xfrm>
            <a:off x="0" y="0"/>
            <a:ext cx="9144000" cy="5143500"/>
          </a:xfrm>
          <a:prstGeom prst="rect">
            <a:avLst/>
          </a:prstGeom>
          <a:noFill/>
          <a:ln w="9525" cap="flat" cmpd="sng">
            <a:solidFill>
              <a:srgbClr val="FFFFFF"/>
            </a:solidFill>
            <a:prstDash val="solid"/>
            <a:round/>
            <a:headEnd type="none" w="sm" len="sm"/>
            <a:tailEnd type="none" w="sm" len="sm"/>
          </a:ln>
        </p:spPr>
      </p:pic>
      <p:sp>
        <p:nvSpPr>
          <p:cNvPr id="32" name="Google Shape;32;p7"/>
          <p:cNvSpPr txBox="1">
            <a:spLocks noGrp="1"/>
          </p:cNvSpPr>
          <p:nvPr>
            <p:ph type="subTitle" idx="1"/>
          </p:nvPr>
        </p:nvSpPr>
        <p:spPr>
          <a:xfrm>
            <a:off x="4928800" y="1475100"/>
            <a:ext cx="3501900" cy="21933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33" name="Google Shape;33;p7"/>
          <p:cNvSpPr txBox="1">
            <a:spLocks noGrp="1"/>
          </p:cNvSpPr>
          <p:nvPr>
            <p:ph type="title"/>
          </p:nvPr>
        </p:nvSpPr>
        <p:spPr>
          <a:xfrm>
            <a:off x="811975" y="539488"/>
            <a:ext cx="4294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600"/>
              <a:buNone/>
              <a:defRPr b="0">
                <a:latin typeface="Syne SemiBold"/>
                <a:ea typeface="Syne SemiBold"/>
                <a:cs typeface="Syne SemiBold"/>
                <a:sym typeface="Syne SemiBold"/>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a:endParaRPr/>
          </a:p>
        </p:txBody>
      </p:sp>
      <p:sp>
        <p:nvSpPr>
          <p:cNvPr id="34" name="Google Shape;34;p7"/>
          <p:cNvSpPr>
            <a:spLocks noGrp="1"/>
          </p:cNvSpPr>
          <p:nvPr>
            <p:ph type="pic" idx="2"/>
          </p:nvPr>
        </p:nvSpPr>
        <p:spPr>
          <a:xfrm>
            <a:off x="1" y="1476775"/>
            <a:ext cx="4294800" cy="36666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5"/>
        <p:cNvGrpSpPr/>
        <p:nvPr/>
      </p:nvGrpSpPr>
      <p:grpSpPr>
        <a:xfrm>
          <a:off x="0" y="0"/>
          <a:ext cx="0" cy="0"/>
          <a:chOff x="0" y="0"/>
          <a:chExt cx="0" cy="0"/>
        </a:xfrm>
      </p:grpSpPr>
      <p:pic>
        <p:nvPicPr>
          <p:cNvPr id="36" name="Google Shape;36;p8" title="techstartup-osc.jpg"/>
          <p:cNvPicPr preferRelativeResize="0"/>
          <p:nvPr/>
        </p:nvPicPr>
        <p:blipFill rotWithShape="1">
          <a:blip r:embed="rId2">
            <a:alphaModFix/>
          </a:blip>
          <a:srcRect t="31124" r="31124"/>
          <a:stretch/>
        </p:blipFill>
        <p:spPr>
          <a:xfrm>
            <a:off x="0" y="0"/>
            <a:ext cx="9144000" cy="5143500"/>
          </a:xfrm>
          <a:prstGeom prst="rect">
            <a:avLst/>
          </a:prstGeom>
          <a:noFill/>
          <a:ln w="9525" cap="flat" cmpd="sng">
            <a:solidFill>
              <a:srgbClr val="FFFFFF"/>
            </a:solidFill>
            <a:prstDash val="solid"/>
            <a:round/>
            <a:headEnd type="none" w="sm" len="sm"/>
            <a:tailEnd type="none" w="sm" len="sm"/>
          </a:ln>
        </p:spPr>
      </p:pic>
      <p:sp>
        <p:nvSpPr>
          <p:cNvPr id="37" name="Google Shape;37;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pic>
        <p:nvPicPr>
          <p:cNvPr id="39" name="Google Shape;39;p9" title="techstartup-osc.jpg"/>
          <p:cNvPicPr preferRelativeResize="0"/>
          <p:nvPr/>
        </p:nvPicPr>
        <p:blipFill rotWithShape="1">
          <a:blip r:embed="rId2">
            <a:alphaModFix/>
          </a:blip>
          <a:srcRect/>
          <a:stretch/>
        </p:blipFill>
        <p:spPr>
          <a:xfrm>
            <a:off x="0" y="0"/>
            <a:ext cx="9144000" cy="5143500"/>
          </a:xfrm>
          <a:prstGeom prst="rect">
            <a:avLst/>
          </a:prstGeom>
          <a:noFill/>
          <a:ln w="9525" cap="flat" cmpd="sng">
            <a:solidFill>
              <a:srgbClr val="FFFFFF"/>
            </a:solidFill>
            <a:prstDash val="solid"/>
            <a:round/>
            <a:headEnd type="none" w="sm" len="sm"/>
            <a:tailEnd type="none" w="sm" len="sm"/>
          </a:ln>
        </p:spPr>
      </p:pic>
      <p:sp>
        <p:nvSpPr>
          <p:cNvPr id="40" name="Google Shape;40;p9"/>
          <p:cNvSpPr txBox="1">
            <a:spLocks noGrp="1"/>
          </p:cNvSpPr>
          <p:nvPr>
            <p:ph type="title"/>
          </p:nvPr>
        </p:nvSpPr>
        <p:spPr>
          <a:xfrm>
            <a:off x="2135550" y="1189100"/>
            <a:ext cx="48729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2600"/>
              <a:buNone/>
              <a:defRPr/>
            </a:lvl2pPr>
            <a:lvl3pPr lvl="2" algn="ctr" rtl="0">
              <a:spcBef>
                <a:spcPts val="0"/>
              </a:spcBef>
              <a:spcAft>
                <a:spcPts val="0"/>
              </a:spcAft>
              <a:buSzPts val="2600"/>
              <a:buNone/>
              <a:defRPr/>
            </a:lvl3pPr>
            <a:lvl4pPr lvl="3" algn="ctr" rtl="0">
              <a:spcBef>
                <a:spcPts val="0"/>
              </a:spcBef>
              <a:spcAft>
                <a:spcPts val="0"/>
              </a:spcAft>
              <a:buSzPts val="2600"/>
              <a:buNone/>
              <a:defRPr/>
            </a:lvl4pPr>
            <a:lvl5pPr lvl="4" algn="ctr" rtl="0">
              <a:spcBef>
                <a:spcPts val="0"/>
              </a:spcBef>
              <a:spcAft>
                <a:spcPts val="0"/>
              </a:spcAft>
              <a:buSzPts val="2600"/>
              <a:buNone/>
              <a:defRPr/>
            </a:lvl5pPr>
            <a:lvl6pPr lvl="5" algn="ctr" rtl="0">
              <a:spcBef>
                <a:spcPts val="0"/>
              </a:spcBef>
              <a:spcAft>
                <a:spcPts val="0"/>
              </a:spcAft>
              <a:buSzPts val="2600"/>
              <a:buNone/>
              <a:defRPr/>
            </a:lvl6pPr>
            <a:lvl7pPr lvl="6" algn="ctr" rtl="0">
              <a:spcBef>
                <a:spcPts val="0"/>
              </a:spcBef>
              <a:spcAft>
                <a:spcPts val="0"/>
              </a:spcAft>
              <a:buSzPts val="2600"/>
              <a:buNone/>
              <a:defRPr/>
            </a:lvl7pPr>
            <a:lvl8pPr lvl="7" algn="ctr" rtl="0">
              <a:spcBef>
                <a:spcPts val="0"/>
              </a:spcBef>
              <a:spcAft>
                <a:spcPts val="0"/>
              </a:spcAft>
              <a:buSzPts val="2600"/>
              <a:buNone/>
              <a:defRPr/>
            </a:lvl8pPr>
            <a:lvl9pPr lvl="8" algn="ctr" rtl="0">
              <a:spcBef>
                <a:spcPts val="0"/>
              </a:spcBef>
              <a:spcAft>
                <a:spcPts val="0"/>
              </a:spcAft>
              <a:buSzPts val="2600"/>
              <a:buNone/>
              <a:defRPr/>
            </a:lvl9pPr>
          </a:lstStyle>
          <a:p>
            <a:endParaRPr/>
          </a:p>
        </p:txBody>
      </p:sp>
      <p:sp>
        <p:nvSpPr>
          <p:cNvPr id="41" name="Google Shape;41;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2"/>
        <p:cNvGrpSpPr/>
        <p:nvPr/>
      </p:nvGrpSpPr>
      <p:grpSpPr>
        <a:xfrm>
          <a:off x="0" y="0"/>
          <a:ext cx="0" cy="0"/>
          <a:chOff x="0" y="0"/>
          <a:chExt cx="0" cy="0"/>
        </a:xfrm>
      </p:grpSpPr>
      <p:sp>
        <p:nvSpPr>
          <p:cNvPr id="43" name="Google Shape;43;p10"/>
          <p:cNvSpPr>
            <a:spLocks noGrp="1"/>
          </p:cNvSpPr>
          <p:nvPr>
            <p:ph type="pic" idx="2"/>
          </p:nvPr>
        </p:nvSpPr>
        <p:spPr>
          <a:xfrm>
            <a:off x="0" y="0"/>
            <a:ext cx="9144000" cy="5143500"/>
          </a:xfrm>
          <a:prstGeom prst="rect">
            <a:avLst/>
          </a:prstGeom>
          <a:noFill/>
          <a:ln>
            <a:noFill/>
          </a:ln>
        </p:spPr>
      </p:sp>
      <p:sp>
        <p:nvSpPr>
          <p:cNvPr id="44" name="Google Shape;44;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2600"/>
              <a:buNone/>
              <a:defRPr>
                <a:solidFill>
                  <a:schemeClr val="lt1"/>
                </a:solidFill>
              </a:defRPr>
            </a:lvl1pPr>
            <a:lvl2pPr lvl="1" algn="ctr" rtl="0">
              <a:spcBef>
                <a:spcPts val="0"/>
              </a:spcBef>
              <a:spcAft>
                <a:spcPts val="0"/>
              </a:spcAft>
              <a:buSzPts val="2600"/>
              <a:buNone/>
              <a:defRPr/>
            </a:lvl2pPr>
            <a:lvl3pPr lvl="2" algn="ctr" rtl="0">
              <a:spcBef>
                <a:spcPts val="0"/>
              </a:spcBef>
              <a:spcAft>
                <a:spcPts val="0"/>
              </a:spcAft>
              <a:buSzPts val="2600"/>
              <a:buNone/>
              <a:defRPr/>
            </a:lvl3pPr>
            <a:lvl4pPr lvl="3" algn="ctr" rtl="0">
              <a:spcBef>
                <a:spcPts val="0"/>
              </a:spcBef>
              <a:spcAft>
                <a:spcPts val="0"/>
              </a:spcAft>
              <a:buSzPts val="2600"/>
              <a:buNone/>
              <a:defRPr/>
            </a:lvl4pPr>
            <a:lvl5pPr lvl="4" algn="ctr" rtl="0">
              <a:spcBef>
                <a:spcPts val="0"/>
              </a:spcBef>
              <a:spcAft>
                <a:spcPts val="0"/>
              </a:spcAft>
              <a:buSzPts val="2600"/>
              <a:buNone/>
              <a:defRPr/>
            </a:lvl5pPr>
            <a:lvl6pPr lvl="5" algn="ctr" rtl="0">
              <a:spcBef>
                <a:spcPts val="0"/>
              </a:spcBef>
              <a:spcAft>
                <a:spcPts val="0"/>
              </a:spcAft>
              <a:buSzPts val="2600"/>
              <a:buNone/>
              <a:defRPr/>
            </a:lvl6pPr>
            <a:lvl7pPr lvl="6" algn="ctr" rtl="0">
              <a:spcBef>
                <a:spcPts val="0"/>
              </a:spcBef>
              <a:spcAft>
                <a:spcPts val="0"/>
              </a:spcAft>
              <a:buSzPts val="2600"/>
              <a:buNone/>
              <a:defRPr/>
            </a:lvl7pPr>
            <a:lvl8pPr lvl="7" algn="ctr" rtl="0">
              <a:spcBef>
                <a:spcPts val="0"/>
              </a:spcBef>
              <a:spcAft>
                <a:spcPts val="0"/>
              </a:spcAft>
              <a:buSzPts val="2600"/>
              <a:buNone/>
              <a:defRPr/>
            </a:lvl8pPr>
            <a:lvl9pPr lvl="8" algn="ctr" rtl="0">
              <a:spcBef>
                <a:spcPts val="0"/>
              </a:spcBef>
              <a:spcAft>
                <a:spcPts val="0"/>
              </a:spcAft>
              <a:buSzPts val="26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1">
  <p:cSld name="TITLE_ONLY_1_1">
    <p:spTree>
      <p:nvGrpSpPr>
        <p:cNvPr id="1" name="Shape 79"/>
        <p:cNvGrpSpPr/>
        <p:nvPr/>
      </p:nvGrpSpPr>
      <p:grpSpPr>
        <a:xfrm>
          <a:off x="0" y="0"/>
          <a:ext cx="0" cy="0"/>
          <a:chOff x="0" y="0"/>
          <a:chExt cx="0" cy="0"/>
        </a:xfrm>
      </p:grpSpPr>
      <p:pic>
        <p:nvPicPr>
          <p:cNvPr id="80" name="Google Shape;80;p17" title="techstartup-osc6.jpg"/>
          <p:cNvPicPr preferRelativeResize="0"/>
          <p:nvPr/>
        </p:nvPicPr>
        <p:blipFill rotWithShape="1">
          <a:blip r:embed="rId2">
            <a:alphaModFix/>
          </a:blip>
          <a:srcRect/>
          <a:stretch/>
        </p:blipFill>
        <p:spPr>
          <a:xfrm>
            <a:off x="0" y="0"/>
            <a:ext cx="9144000" cy="5143500"/>
          </a:xfrm>
          <a:prstGeom prst="rect">
            <a:avLst/>
          </a:prstGeom>
          <a:noFill/>
          <a:ln w="9525" cap="flat" cmpd="sng">
            <a:solidFill>
              <a:srgbClr val="FFFFFF"/>
            </a:solidFill>
            <a:prstDash val="solid"/>
            <a:round/>
            <a:headEnd type="none" w="sm" len="sm"/>
            <a:tailEnd type="none" w="sm" len="sm"/>
          </a:ln>
        </p:spPr>
      </p:pic>
      <p:sp>
        <p:nvSpPr>
          <p:cNvPr id="81" name="Google Shape;81;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08"/>
        <p:cNvGrpSpPr/>
        <p:nvPr/>
      </p:nvGrpSpPr>
      <p:grpSpPr>
        <a:xfrm>
          <a:off x="0" y="0"/>
          <a:ext cx="0" cy="0"/>
          <a:chOff x="0" y="0"/>
          <a:chExt cx="0" cy="0"/>
        </a:xfrm>
      </p:grpSpPr>
      <p:pic>
        <p:nvPicPr>
          <p:cNvPr id="109" name="Google Shape;109;p22" title="techstartup-osc4.jpg"/>
          <p:cNvPicPr preferRelativeResize="0"/>
          <p:nvPr/>
        </p:nvPicPr>
        <p:blipFill rotWithShape="1">
          <a:blip r:embed="rId2">
            <a:alphaModFix/>
          </a:blip>
          <a:srcRect/>
          <a:stretch/>
        </p:blipFill>
        <p:spPr>
          <a:xfrm>
            <a:off x="0" y="0"/>
            <a:ext cx="9144000" cy="5143500"/>
          </a:xfrm>
          <a:prstGeom prst="rect">
            <a:avLst/>
          </a:prstGeom>
          <a:noFill/>
          <a:ln w="9525" cap="flat" cmpd="sng">
            <a:solidFill>
              <a:srgbClr val="FFFFFF"/>
            </a:solidFill>
            <a:prstDash val="solid"/>
            <a:round/>
            <a:headEnd type="none" w="sm" len="sm"/>
            <a:tailEnd type="none" w="sm" len="sm"/>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10"/>
        <p:cNvGrpSpPr/>
        <p:nvPr/>
      </p:nvGrpSpPr>
      <p:grpSpPr>
        <a:xfrm>
          <a:off x="0" y="0"/>
          <a:ext cx="0" cy="0"/>
          <a:chOff x="0" y="0"/>
          <a:chExt cx="0" cy="0"/>
        </a:xfrm>
      </p:grpSpPr>
      <p:pic>
        <p:nvPicPr>
          <p:cNvPr id="111" name="Google Shape;111;p23" title="techstartup-osc1.jpg"/>
          <p:cNvPicPr preferRelativeResize="0"/>
          <p:nvPr/>
        </p:nvPicPr>
        <p:blipFill>
          <a:blip r:embed="rId2">
            <a:alphaModFix/>
          </a:blip>
          <a:stretch>
            <a:fillRect/>
          </a:stretch>
        </p:blipFill>
        <p:spPr>
          <a:xfrm>
            <a:off x="0" y="0"/>
            <a:ext cx="9144000" cy="5143500"/>
          </a:xfrm>
          <a:prstGeom prst="rect">
            <a:avLst/>
          </a:prstGeom>
          <a:noFill/>
          <a:ln w="9525" cap="flat" cmpd="sng">
            <a:solidFill>
              <a:srgbClr val="FFFFFF"/>
            </a:solidFill>
            <a:prstDash val="solid"/>
            <a:round/>
            <a:headEnd type="none" w="sm" len="sm"/>
            <a:tailEnd type="none" w="sm" len="sm"/>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600"/>
              <a:buFont typeface="Syne"/>
              <a:buNone/>
              <a:defRPr sz="2600" b="1">
                <a:solidFill>
                  <a:schemeClr val="dk1"/>
                </a:solidFill>
                <a:latin typeface="Syne"/>
                <a:ea typeface="Syne"/>
                <a:cs typeface="Syne"/>
                <a:sym typeface="Syne"/>
              </a:defRPr>
            </a:lvl1pPr>
            <a:lvl2pPr lvl="1" rtl="0">
              <a:spcBef>
                <a:spcPts val="0"/>
              </a:spcBef>
              <a:spcAft>
                <a:spcPts val="0"/>
              </a:spcAft>
              <a:buClr>
                <a:schemeClr val="dk1"/>
              </a:buClr>
              <a:buSzPts val="2600"/>
              <a:buFont typeface="Syne"/>
              <a:buNone/>
              <a:defRPr sz="2600" b="1">
                <a:solidFill>
                  <a:schemeClr val="dk1"/>
                </a:solidFill>
                <a:latin typeface="Syne"/>
                <a:ea typeface="Syne"/>
                <a:cs typeface="Syne"/>
                <a:sym typeface="Syne"/>
              </a:defRPr>
            </a:lvl2pPr>
            <a:lvl3pPr lvl="2" rtl="0">
              <a:spcBef>
                <a:spcPts val="0"/>
              </a:spcBef>
              <a:spcAft>
                <a:spcPts val="0"/>
              </a:spcAft>
              <a:buClr>
                <a:schemeClr val="dk1"/>
              </a:buClr>
              <a:buSzPts val="2600"/>
              <a:buFont typeface="Syne"/>
              <a:buNone/>
              <a:defRPr sz="2600" b="1">
                <a:solidFill>
                  <a:schemeClr val="dk1"/>
                </a:solidFill>
                <a:latin typeface="Syne"/>
                <a:ea typeface="Syne"/>
                <a:cs typeface="Syne"/>
                <a:sym typeface="Syne"/>
              </a:defRPr>
            </a:lvl3pPr>
            <a:lvl4pPr lvl="3" rtl="0">
              <a:spcBef>
                <a:spcPts val="0"/>
              </a:spcBef>
              <a:spcAft>
                <a:spcPts val="0"/>
              </a:spcAft>
              <a:buClr>
                <a:schemeClr val="dk1"/>
              </a:buClr>
              <a:buSzPts val="2600"/>
              <a:buFont typeface="Syne"/>
              <a:buNone/>
              <a:defRPr sz="2600" b="1">
                <a:solidFill>
                  <a:schemeClr val="dk1"/>
                </a:solidFill>
                <a:latin typeface="Syne"/>
                <a:ea typeface="Syne"/>
                <a:cs typeface="Syne"/>
                <a:sym typeface="Syne"/>
              </a:defRPr>
            </a:lvl4pPr>
            <a:lvl5pPr lvl="4" rtl="0">
              <a:spcBef>
                <a:spcPts val="0"/>
              </a:spcBef>
              <a:spcAft>
                <a:spcPts val="0"/>
              </a:spcAft>
              <a:buClr>
                <a:schemeClr val="dk1"/>
              </a:buClr>
              <a:buSzPts val="2600"/>
              <a:buFont typeface="Syne"/>
              <a:buNone/>
              <a:defRPr sz="2600" b="1">
                <a:solidFill>
                  <a:schemeClr val="dk1"/>
                </a:solidFill>
                <a:latin typeface="Syne"/>
                <a:ea typeface="Syne"/>
                <a:cs typeface="Syne"/>
                <a:sym typeface="Syne"/>
              </a:defRPr>
            </a:lvl5pPr>
            <a:lvl6pPr lvl="5" rtl="0">
              <a:spcBef>
                <a:spcPts val="0"/>
              </a:spcBef>
              <a:spcAft>
                <a:spcPts val="0"/>
              </a:spcAft>
              <a:buClr>
                <a:schemeClr val="dk1"/>
              </a:buClr>
              <a:buSzPts val="2600"/>
              <a:buFont typeface="Syne"/>
              <a:buNone/>
              <a:defRPr sz="2600" b="1">
                <a:solidFill>
                  <a:schemeClr val="dk1"/>
                </a:solidFill>
                <a:latin typeface="Syne"/>
                <a:ea typeface="Syne"/>
                <a:cs typeface="Syne"/>
                <a:sym typeface="Syne"/>
              </a:defRPr>
            </a:lvl6pPr>
            <a:lvl7pPr lvl="6" rtl="0">
              <a:spcBef>
                <a:spcPts val="0"/>
              </a:spcBef>
              <a:spcAft>
                <a:spcPts val="0"/>
              </a:spcAft>
              <a:buClr>
                <a:schemeClr val="dk1"/>
              </a:buClr>
              <a:buSzPts val="2600"/>
              <a:buFont typeface="Syne"/>
              <a:buNone/>
              <a:defRPr sz="2600" b="1">
                <a:solidFill>
                  <a:schemeClr val="dk1"/>
                </a:solidFill>
                <a:latin typeface="Syne"/>
                <a:ea typeface="Syne"/>
                <a:cs typeface="Syne"/>
                <a:sym typeface="Syne"/>
              </a:defRPr>
            </a:lvl7pPr>
            <a:lvl8pPr lvl="7" rtl="0">
              <a:spcBef>
                <a:spcPts val="0"/>
              </a:spcBef>
              <a:spcAft>
                <a:spcPts val="0"/>
              </a:spcAft>
              <a:buClr>
                <a:schemeClr val="dk1"/>
              </a:buClr>
              <a:buSzPts val="2600"/>
              <a:buFont typeface="Syne"/>
              <a:buNone/>
              <a:defRPr sz="2600" b="1">
                <a:solidFill>
                  <a:schemeClr val="dk1"/>
                </a:solidFill>
                <a:latin typeface="Syne"/>
                <a:ea typeface="Syne"/>
                <a:cs typeface="Syne"/>
                <a:sym typeface="Syne"/>
              </a:defRPr>
            </a:lvl8pPr>
            <a:lvl9pPr lvl="8" rtl="0">
              <a:spcBef>
                <a:spcPts val="0"/>
              </a:spcBef>
              <a:spcAft>
                <a:spcPts val="0"/>
              </a:spcAft>
              <a:buClr>
                <a:schemeClr val="dk1"/>
              </a:buClr>
              <a:buSzPts val="2600"/>
              <a:buFont typeface="Syne"/>
              <a:buNone/>
              <a:defRPr sz="2600" b="1">
                <a:solidFill>
                  <a:schemeClr val="dk1"/>
                </a:solidFill>
                <a:latin typeface="Syne"/>
                <a:ea typeface="Syne"/>
                <a:cs typeface="Syne"/>
                <a:sym typeface="Syn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marL="914400" lvl="1"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marL="1371600" lvl="2"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marL="1828800" lvl="3"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marL="2286000" lvl="4"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marL="2743200" lvl="5"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marL="3200400" lvl="6"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marL="3657600" lvl="7"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marL="4114800" lvl="8" indent="-30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3" r:id="rId3"/>
    <p:sldLayoutId id="2147483654" r:id="rId4"/>
    <p:sldLayoutId id="2147483655" r:id="rId5"/>
    <p:sldLayoutId id="2147483656" r:id="rId6"/>
    <p:sldLayoutId id="2147483658" r:id="rId7"/>
    <p:sldLayoutId id="2147483663" r:id="rId8"/>
    <p:sldLayoutId id="2147483668" r:id="rId9"/>
    <p:sldLayoutId id="214748366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6"/>
        <p:cNvGrpSpPr/>
        <p:nvPr/>
      </p:nvGrpSpPr>
      <p:grpSpPr>
        <a:xfrm>
          <a:off x="0" y="0"/>
          <a:ext cx="0" cy="0"/>
          <a:chOff x="0" y="0"/>
          <a:chExt cx="0" cy="0"/>
        </a:xfrm>
      </p:grpSpPr>
      <p:sp>
        <p:nvSpPr>
          <p:cNvPr id="128" name="Google Shape;128;p28"/>
          <p:cNvSpPr txBox="1">
            <a:spLocks noGrp="1"/>
          </p:cNvSpPr>
          <p:nvPr>
            <p:ph type="ctrTitle"/>
          </p:nvPr>
        </p:nvSpPr>
        <p:spPr>
          <a:xfrm>
            <a:off x="713250" y="247506"/>
            <a:ext cx="7717500" cy="907200"/>
          </a:xfrm>
          <a:prstGeom prst="rect">
            <a:avLst/>
          </a:prstGeom>
        </p:spPr>
        <p:txBody>
          <a:bodyPr spcFirstLastPara="1" wrap="square" lIns="91425" tIns="91425" rIns="91425" bIns="91425" anchor="b" anchorCtr="0">
            <a:noAutofit/>
          </a:bodyPr>
          <a:lstStyle/>
          <a:p>
            <a:pPr lvl="0"/>
            <a:r>
              <a:rPr lang="en-US" sz="4000" b="1" dirty="0">
                <a:latin typeface="Times New Roman" panose="02020603050405020304" pitchFamily="18" charset="0"/>
                <a:cs typeface="Times New Roman" panose="02020603050405020304" pitchFamily="18" charset="0"/>
              </a:rPr>
              <a:t>Banking Data Analysis</a:t>
            </a:r>
            <a:endParaRPr sz="40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9DE0A98-FA40-4632-AF4D-5118E845B66A}"/>
              </a:ext>
            </a:extLst>
          </p:cNvPr>
          <p:cNvSpPr txBox="1"/>
          <p:nvPr/>
        </p:nvSpPr>
        <p:spPr>
          <a:xfrm>
            <a:off x="1077457" y="1544765"/>
            <a:ext cx="5419259" cy="2492990"/>
          </a:xfrm>
          <a:prstGeom prst="rect">
            <a:avLst/>
          </a:prstGeom>
          <a:noFill/>
        </p:spPr>
        <p:txBody>
          <a:bodyPr wrap="square">
            <a:spAutoFit/>
          </a:bodyPr>
          <a:lstStyle/>
          <a:p>
            <a:r>
              <a:rPr lang="en-IN" sz="2400" b="1" dirty="0">
                <a:solidFill>
                  <a:schemeClr val="tx1"/>
                </a:solidFill>
                <a:latin typeface="Times New Roman" panose="02020603050405020304" pitchFamily="18" charset="0"/>
                <a:cs typeface="Times New Roman" panose="02020603050405020304" pitchFamily="18" charset="0"/>
              </a:rPr>
              <a:t>Credit &amp; Deposit Analysis Data</a:t>
            </a:r>
          </a:p>
          <a:p>
            <a:endParaRPr lang="en-IN" sz="2400" b="1" dirty="0">
              <a:solidFill>
                <a:schemeClr val="tx1"/>
              </a:solidFill>
              <a:latin typeface="Times New Roman" panose="02020603050405020304" pitchFamily="18" charset="0"/>
              <a:cs typeface="Times New Roman" panose="02020603050405020304" pitchFamily="18" charset="0"/>
            </a:endParaRPr>
          </a:p>
          <a:p>
            <a:r>
              <a:rPr lang="en-GB" sz="1600" b="1" dirty="0">
                <a:solidFill>
                  <a:schemeClr val="tx1"/>
                </a:solidFill>
                <a:latin typeface="Times New Roman" panose="02020603050405020304" pitchFamily="18" charset="0"/>
                <a:cs typeface="Times New Roman" panose="02020603050405020304" pitchFamily="18" charset="0"/>
              </a:rPr>
              <a:t>Business Recommendations</a:t>
            </a:r>
            <a:r>
              <a:rPr lang="en-GB" sz="1600" dirty="0">
                <a:solidFill>
                  <a:schemeClr val="tx1"/>
                </a:solidFill>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GB" sz="1600" dirty="0">
                <a:solidFill>
                  <a:schemeClr val="tx1"/>
                </a:solidFill>
                <a:latin typeface="Times New Roman" panose="02020603050405020304" pitchFamily="18" charset="0"/>
                <a:cs typeface="Times New Roman" panose="02020603050405020304" pitchFamily="18" charset="0"/>
              </a:rPr>
              <a:t>Improving inflow mechanisms</a:t>
            </a:r>
          </a:p>
          <a:p>
            <a:pPr>
              <a:buFont typeface="Arial" panose="020B0604020202020204" pitchFamily="34" charset="0"/>
              <a:buChar char="•"/>
            </a:pPr>
            <a:r>
              <a:rPr lang="en-GB" sz="1600" dirty="0">
                <a:solidFill>
                  <a:schemeClr val="tx1"/>
                </a:solidFill>
                <a:latin typeface="Times New Roman" panose="02020603050405020304" pitchFamily="18" charset="0"/>
                <a:cs typeface="Times New Roman" panose="02020603050405020304" pitchFamily="18" charset="0"/>
              </a:rPr>
              <a:t>Branch-level KPIs</a:t>
            </a:r>
          </a:p>
          <a:p>
            <a:pPr>
              <a:buFont typeface="Arial" panose="020B0604020202020204" pitchFamily="34" charset="0"/>
              <a:buChar char="•"/>
            </a:pPr>
            <a:r>
              <a:rPr lang="en-GB" sz="1600" dirty="0">
                <a:solidFill>
                  <a:schemeClr val="tx1"/>
                </a:solidFill>
                <a:latin typeface="Times New Roman" panose="02020603050405020304" pitchFamily="18" charset="0"/>
                <a:cs typeface="Times New Roman" panose="02020603050405020304" pitchFamily="18" charset="0"/>
              </a:rPr>
              <a:t>Predictive analytics for high debit months</a:t>
            </a:r>
          </a:p>
          <a:p>
            <a:pPr>
              <a:buFont typeface="Arial" panose="020B0604020202020204" pitchFamily="34" charset="0"/>
              <a:buChar char="•"/>
            </a:pPr>
            <a:r>
              <a:rPr lang="en-GB" sz="1600" dirty="0">
                <a:solidFill>
                  <a:schemeClr val="tx1"/>
                </a:solidFill>
                <a:latin typeface="Times New Roman" panose="02020603050405020304" pitchFamily="18" charset="0"/>
                <a:cs typeface="Times New Roman" panose="02020603050405020304" pitchFamily="18" charset="0"/>
              </a:rPr>
              <a:t>Cost optimization through digital method adoption</a:t>
            </a:r>
          </a:p>
          <a:p>
            <a:pPr>
              <a:buFont typeface="Arial" panose="020B0604020202020204" pitchFamily="34" charset="0"/>
              <a:buChar char="•"/>
            </a:pPr>
            <a:r>
              <a:rPr lang="en-GB" sz="1600" dirty="0">
                <a:solidFill>
                  <a:schemeClr val="tx1"/>
                </a:solidFill>
                <a:latin typeface="Times New Roman" panose="02020603050405020304" pitchFamily="18" charset="0"/>
                <a:cs typeface="Times New Roman" panose="02020603050405020304" pitchFamily="18" charset="0"/>
              </a:rPr>
              <a:t>Targeted campaigns for high-volume banks</a:t>
            </a:r>
          </a:p>
          <a:p>
            <a:endParaRPr lang="en-IN" sz="12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2"/>
          <p:cNvSpPr txBox="1">
            <a:spLocks noGrp="1"/>
          </p:cNvSpPr>
          <p:nvPr>
            <p:ph type="title"/>
          </p:nvPr>
        </p:nvSpPr>
        <p:spPr>
          <a:xfrm>
            <a:off x="454004" y="274959"/>
            <a:ext cx="7358362" cy="601075"/>
          </a:xfrm>
          <a:prstGeom prst="rect">
            <a:avLst/>
          </a:prstGeom>
        </p:spPr>
        <p:txBody>
          <a:bodyPr spcFirstLastPara="1" wrap="square" lIns="91425" tIns="91425" rIns="91425" bIns="91425" anchor="t" anchorCtr="0">
            <a:noAutofit/>
          </a:bodyPr>
          <a:lstStyle/>
          <a:p>
            <a:pPr marL="0" indent="0" algn="l"/>
            <a:r>
              <a:rPr lang="en-IN" sz="3200" dirty="0">
                <a:latin typeface="Times New Roman" panose="02020603050405020304" pitchFamily="18" charset="0"/>
                <a:cs typeface="Times New Roman" panose="02020603050405020304" pitchFamily="18" charset="0"/>
              </a:rPr>
              <a:t>Challenges Faced During Cleaning</a:t>
            </a:r>
            <a:endParaRPr lang="en-US" sz="3200" dirty="0">
              <a:latin typeface="Times New Roman" panose="02020603050405020304" pitchFamily="18" charset="0"/>
              <a:cs typeface="Times New Roman" panose="02020603050405020304" pitchFamily="18" charset="0"/>
            </a:endParaRPr>
          </a:p>
        </p:txBody>
      </p:sp>
      <p:sp>
        <p:nvSpPr>
          <p:cNvPr id="4" name="Google Shape;173;p33">
            <a:extLst>
              <a:ext uri="{FF2B5EF4-FFF2-40B4-BE49-F238E27FC236}">
                <a16:creationId xmlns:a16="http://schemas.microsoft.com/office/drawing/2014/main" id="{6A558AC3-FCBA-4A44-97FB-8E1D4054827C}"/>
              </a:ext>
            </a:extLst>
          </p:cNvPr>
          <p:cNvSpPr txBox="1">
            <a:spLocks/>
          </p:cNvSpPr>
          <p:nvPr/>
        </p:nvSpPr>
        <p:spPr>
          <a:xfrm>
            <a:off x="511649" y="799301"/>
            <a:ext cx="6752396" cy="162418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Missing or incomplete values across key fields.</a:t>
            </a:r>
          </a:p>
          <a:p>
            <a:pPr marL="285750" indent="-28575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Duplicate transactions and inconsistent formatting.</a:t>
            </a:r>
          </a:p>
          <a:p>
            <a:pPr marL="285750" indent="-28575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Irregular customer name formats (Mr./Ms., casing, spaces).</a:t>
            </a:r>
          </a:p>
          <a:p>
            <a:pPr marL="285750" indent="-28575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Unstandardized transaction types, bank names, and dates.</a:t>
            </a:r>
          </a:p>
          <a:p>
            <a:pPr marL="285750" indent="-28575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Outliers or invalid numeric values (negative balance, etc.).</a:t>
            </a:r>
          </a:p>
        </p:txBody>
      </p:sp>
      <p:sp>
        <p:nvSpPr>
          <p:cNvPr id="8" name="Google Shape;164;p32">
            <a:extLst>
              <a:ext uri="{FF2B5EF4-FFF2-40B4-BE49-F238E27FC236}">
                <a16:creationId xmlns:a16="http://schemas.microsoft.com/office/drawing/2014/main" id="{A919BA5A-4010-42ED-B769-A05376CC1FB1}"/>
              </a:ext>
            </a:extLst>
          </p:cNvPr>
          <p:cNvSpPr txBox="1">
            <a:spLocks/>
          </p:cNvSpPr>
          <p:nvPr/>
        </p:nvSpPr>
        <p:spPr>
          <a:xfrm>
            <a:off x="454004" y="2346748"/>
            <a:ext cx="7358362" cy="6010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3600"/>
              <a:buFont typeface="Syne"/>
              <a:buNone/>
              <a:defRPr sz="5000" b="0" i="0" u="none" strike="noStrike" cap="none">
                <a:solidFill>
                  <a:schemeClr val="dk1"/>
                </a:solidFill>
                <a:latin typeface="Syne SemiBold"/>
                <a:ea typeface="Syne SemiBold"/>
                <a:cs typeface="Syne SemiBold"/>
                <a:sym typeface="Syne SemiBold"/>
              </a:defRPr>
            </a:lvl1pPr>
            <a:lvl2pPr marR="0" lvl="1"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2pPr>
            <a:lvl3pPr marR="0" lvl="2"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3pPr>
            <a:lvl4pPr marR="0" lvl="3"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4pPr>
            <a:lvl5pPr marR="0" lvl="4"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5pPr>
            <a:lvl6pPr marR="0" lvl="5"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6pPr>
            <a:lvl7pPr marR="0" lvl="6"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7pPr>
            <a:lvl8pPr marR="0" lvl="7"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8pPr>
            <a:lvl9pPr marR="0" lvl="8"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9pPr>
          </a:lstStyle>
          <a:p>
            <a:pPr algn="l"/>
            <a:r>
              <a:rPr lang="en-US" sz="2800" dirty="0">
                <a:latin typeface="Times New Roman" panose="02020603050405020304" pitchFamily="18" charset="0"/>
                <a:cs typeface="Times New Roman" panose="02020603050405020304" pitchFamily="18" charset="0"/>
              </a:rPr>
              <a:t>How the Data Was Cleaned and Handled</a:t>
            </a:r>
          </a:p>
        </p:txBody>
      </p:sp>
      <p:sp>
        <p:nvSpPr>
          <p:cNvPr id="9" name="Google Shape;173;p33">
            <a:extLst>
              <a:ext uri="{FF2B5EF4-FFF2-40B4-BE49-F238E27FC236}">
                <a16:creationId xmlns:a16="http://schemas.microsoft.com/office/drawing/2014/main" id="{FF8B768F-AFD9-4221-AAEE-F6E6ECFFA06E}"/>
              </a:ext>
            </a:extLst>
          </p:cNvPr>
          <p:cNvSpPr txBox="1">
            <a:spLocks/>
          </p:cNvSpPr>
          <p:nvPr/>
        </p:nvSpPr>
        <p:spPr>
          <a:xfrm>
            <a:off x="454004" y="2794357"/>
            <a:ext cx="6752396" cy="1828798"/>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38150" indent="-28575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Removed duplicated records for accuracy.</a:t>
            </a:r>
          </a:p>
          <a:p>
            <a:pPr marL="438150" indent="-28575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Dropped rows with missing critical fields.</a:t>
            </a:r>
          </a:p>
          <a:p>
            <a:pPr marL="438150" indent="-28575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Standardized customer names, dates, bank names, and currency.</a:t>
            </a:r>
          </a:p>
          <a:p>
            <a:pPr marL="438150" indent="-28575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Categorized transaction methods and added branch details.</a:t>
            </a:r>
          </a:p>
          <a:p>
            <a:pPr marL="438150" indent="-28575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Cleaned numeric fields by removing invalid values.</a:t>
            </a:r>
          </a:p>
          <a:p>
            <a:pPr marL="438150" indent="-285750">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Exported final dataset with 17 structured fields.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30B9A-F6B7-4F34-95AC-62E6770B19B1}"/>
              </a:ext>
            </a:extLst>
          </p:cNvPr>
          <p:cNvSpPr>
            <a:spLocks noGrp="1"/>
          </p:cNvSpPr>
          <p:nvPr>
            <p:ph type="title"/>
          </p:nvPr>
        </p:nvSpPr>
        <p:spPr>
          <a:xfrm>
            <a:off x="242987" y="748146"/>
            <a:ext cx="4201125" cy="4094580"/>
          </a:xfrm>
        </p:spPr>
        <p:txBody>
          <a:bodyPr/>
          <a:lstStyle/>
          <a:p>
            <a:pPr algn="l"/>
            <a:r>
              <a:rPr lang="en-GB" sz="1400" b="1" dirty="0">
                <a:latin typeface="Times New Roman" panose="02020603050405020304" pitchFamily="18" charset="0"/>
                <a:cs typeface="Times New Roman" panose="02020603050405020304" pitchFamily="18" charset="0"/>
              </a:rPr>
              <a:t>Credit &amp; Debit Are Almost Equal → Net Amount Is Negative</a:t>
            </a:r>
            <a:br>
              <a:rPr lang="en-GB" sz="1400" b="1" dirty="0">
                <a:latin typeface="Times New Roman" panose="02020603050405020304" pitchFamily="18" charset="0"/>
                <a:cs typeface="Times New Roman" panose="02020603050405020304" pitchFamily="18" charset="0"/>
              </a:rPr>
            </a:br>
            <a:br>
              <a:rPr lang="en-GB" sz="1000" b="1" dirty="0">
                <a:latin typeface="Times New Roman" panose="02020603050405020304" pitchFamily="18" charset="0"/>
                <a:cs typeface="Times New Roman" panose="02020603050405020304" pitchFamily="18" charset="0"/>
              </a:rPr>
            </a:br>
            <a:r>
              <a:rPr lang="en-GB" sz="1100" b="1" dirty="0">
                <a:latin typeface="Times New Roman" panose="02020603050405020304" pitchFamily="18" charset="0"/>
                <a:cs typeface="Times New Roman" panose="02020603050405020304" pitchFamily="18" charset="0"/>
              </a:rPr>
              <a:t>Total Credit:</a:t>
            </a:r>
            <a:r>
              <a:rPr lang="en-GB" sz="1100" dirty="0">
                <a:latin typeface="Times New Roman" panose="02020603050405020304" pitchFamily="18" charset="0"/>
                <a:cs typeface="Times New Roman" panose="02020603050405020304" pitchFamily="18" charset="0"/>
              </a:rPr>
              <a:t> </a:t>
            </a:r>
            <a:r>
              <a:rPr lang="en-GB" sz="1400" b="1" dirty="0">
                <a:latin typeface="Times New Roman" panose="02020603050405020304" pitchFamily="18" charset="0"/>
                <a:cs typeface="Times New Roman" panose="02020603050405020304" pitchFamily="18" charset="0"/>
              </a:rPr>
              <a:t>~115M</a:t>
            </a:r>
            <a:br>
              <a:rPr lang="en-GB" sz="1100" dirty="0">
                <a:latin typeface="Times New Roman" panose="02020603050405020304" pitchFamily="18" charset="0"/>
                <a:cs typeface="Times New Roman" panose="02020603050405020304" pitchFamily="18" charset="0"/>
              </a:rPr>
            </a:br>
            <a:r>
              <a:rPr lang="en-GB" sz="1100" b="1" dirty="0">
                <a:latin typeface="Times New Roman" panose="02020603050405020304" pitchFamily="18" charset="0"/>
                <a:cs typeface="Times New Roman" panose="02020603050405020304" pitchFamily="18" charset="0"/>
              </a:rPr>
              <a:t>Total Debit:</a:t>
            </a:r>
            <a:r>
              <a:rPr lang="en-GB" sz="1100" dirty="0">
                <a:latin typeface="Times New Roman" panose="02020603050405020304" pitchFamily="18" charset="0"/>
                <a:cs typeface="Times New Roman" panose="02020603050405020304" pitchFamily="18" charset="0"/>
              </a:rPr>
              <a:t> </a:t>
            </a:r>
            <a:r>
              <a:rPr lang="en-GB" sz="1400" b="1" dirty="0">
                <a:latin typeface="Times New Roman" panose="02020603050405020304" pitchFamily="18" charset="0"/>
                <a:cs typeface="Times New Roman" panose="02020603050405020304" pitchFamily="18" charset="0"/>
              </a:rPr>
              <a:t>~115.38M</a:t>
            </a:r>
            <a:br>
              <a:rPr lang="en-GB" sz="1100" dirty="0">
                <a:latin typeface="Times New Roman" panose="02020603050405020304" pitchFamily="18" charset="0"/>
                <a:cs typeface="Times New Roman" panose="02020603050405020304" pitchFamily="18" charset="0"/>
              </a:rPr>
            </a:br>
            <a:r>
              <a:rPr lang="en-GB" sz="1100" b="1" dirty="0">
                <a:latin typeface="Times New Roman" panose="02020603050405020304" pitchFamily="18" charset="0"/>
                <a:cs typeface="Times New Roman" panose="02020603050405020304" pitchFamily="18" charset="0"/>
              </a:rPr>
              <a:t>Net Amount:</a:t>
            </a:r>
            <a:r>
              <a:rPr lang="en-GB" sz="1100" dirty="0">
                <a:latin typeface="Times New Roman" panose="02020603050405020304" pitchFamily="18" charset="0"/>
                <a:cs typeface="Times New Roman" panose="02020603050405020304" pitchFamily="18" charset="0"/>
              </a:rPr>
              <a:t> </a:t>
            </a:r>
            <a:r>
              <a:rPr lang="en-GB" sz="1400" b="1" dirty="0">
                <a:latin typeface="Times New Roman" panose="02020603050405020304" pitchFamily="18" charset="0"/>
                <a:cs typeface="Times New Roman" panose="02020603050405020304" pitchFamily="18" charset="0"/>
              </a:rPr>
              <a:t>–349K</a:t>
            </a:r>
            <a:br>
              <a:rPr lang="en-GB" sz="1100" dirty="0">
                <a:latin typeface="Times New Roman" panose="02020603050405020304" pitchFamily="18" charset="0"/>
                <a:cs typeface="Times New Roman" panose="02020603050405020304" pitchFamily="18" charset="0"/>
              </a:rPr>
            </a:br>
            <a:r>
              <a:rPr lang="en-GB" sz="1100" dirty="0">
                <a:latin typeface="Times New Roman" panose="02020603050405020304" pitchFamily="18" charset="0"/>
                <a:cs typeface="Times New Roman" panose="02020603050405020304" pitchFamily="18" charset="0"/>
              </a:rPr>
              <a:t>The bank is </a:t>
            </a:r>
            <a:r>
              <a:rPr lang="en-GB" sz="1100" b="1" dirty="0">
                <a:latin typeface="Times New Roman" panose="02020603050405020304" pitchFamily="18" charset="0"/>
                <a:cs typeface="Times New Roman" panose="02020603050405020304" pitchFamily="18" charset="0"/>
              </a:rPr>
              <a:t>losing more money than it gains</a:t>
            </a:r>
            <a:r>
              <a:rPr lang="en-GB" sz="1100" dirty="0">
                <a:latin typeface="Times New Roman" panose="02020603050405020304" pitchFamily="18" charset="0"/>
                <a:cs typeface="Times New Roman" panose="02020603050405020304" pitchFamily="18" charset="0"/>
              </a:rPr>
              <a:t>.</a:t>
            </a:r>
            <a:br>
              <a:rPr lang="en-GB" sz="1100" dirty="0">
                <a:latin typeface="Times New Roman" panose="02020603050405020304" pitchFamily="18" charset="0"/>
                <a:cs typeface="Times New Roman" panose="02020603050405020304" pitchFamily="18" charset="0"/>
              </a:rPr>
            </a:br>
            <a:br>
              <a:rPr lang="en-GB" sz="1100" dirty="0">
                <a:latin typeface="Times New Roman" panose="02020603050405020304" pitchFamily="18" charset="0"/>
                <a:cs typeface="Times New Roman" panose="02020603050405020304" pitchFamily="18" charset="0"/>
              </a:rPr>
            </a:br>
            <a:r>
              <a:rPr lang="en-GB" sz="1100" b="1" dirty="0">
                <a:latin typeface="Times New Roman" panose="02020603050405020304" pitchFamily="18" charset="0"/>
                <a:cs typeface="Times New Roman" panose="02020603050405020304" pitchFamily="18" charset="0"/>
              </a:rPr>
              <a:t>Problem</a:t>
            </a:r>
            <a:br>
              <a:rPr lang="en-GB" sz="1100" b="1" dirty="0">
                <a:latin typeface="Times New Roman" panose="02020603050405020304" pitchFamily="18" charset="0"/>
                <a:cs typeface="Times New Roman" panose="02020603050405020304" pitchFamily="18" charset="0"/>
              </a:rPr>
            </a:br>
            <a:r>
              <a:rPr lang="en-GB" sz="1100" dirty="0">
                <a:latin typeface="Times New Roman" panose="02020603050405020304" pitchFamily="18" charset="0"/>
                <a:cs typeface="Times New Roman" panose="02020603050405020304" pitchFamily="18" charset="0"/>
              </a:rPr>
              <a:t>High debit outflow compared to credit inflow.</a:t>
            </a:r>
            <a:br>
              <a:rPr lang="en-GB" sz="1100" dirty="0">
                <a:latin typeface="Times New Roman" panose="02020603050405020304" pitchFamily="18" charset="0"/>
                <a:cs typeface="Times New Roman" panose="02020603050405020304" pitchFamily="18" charset="0"/>
              </a:rPr>
            </a:br>
            <a:r>
              <a:rPr lang="en-GB" sz="1100" dirty="0">
                <a:latin typeface="Times New Roman" panose="02020603050405020304" pitchFamily="18" charset="0"/>
                <a:cs typeface="Times New Roman" panose="02020603050405020304" pitchFamily="18" charset="0"/>
              </a:rPr>
              <a:t>Some banks or branches show higher debit patterns (expenses, refunds, withdrawals).</a:t>
            </a:r>
            <a:br>
              <a:rPr lang="en-GB" sz="1100" dirty="0">
                <a:latin typeface="Times New Roman" panose="02020603050405020304" pitchFamily="18" charset="0"/>
                <a:cs typeface="Times New Roman" panose="02020603050405020304" pitchFamily="18" charset="0"/>
              </a:rPr>
            </a:br>
            <a:br>
              <a:rPr lang="en-GB" sz="1100" dirty="0">
                <a:latin typeface="Times New Roman" panose="02020603050405020304" pitchFamily="18" charset="0"/>
                <a:cs typeface="Times New Roman" panose="02020603050405020304" pitchFamily="18" charset="0"/>
              </a:rPr>
            </a:br>
            <a:r>
              <a:rPr lang="en-GB" sz="1100" b="1" dirty="0">
                <a:latin typeface="Times New Roman" panose="02020603050405020304" pitchFamily="18" charset="0"/>
                <a:cs typeface="Times New Roman" panose="02020603050405020304" pitchFamily="18" charset="0"/>
              </a:rPr>
              <a:t>Solution</a:t>
            </a:r>
            <a:br>
              <a:rPr lang="en-GB" sz="1100" b="1" dirty="0">
                <a:latin typeface="Times New Roman" panose="02020603050405020304" pitchFamily="18" charset="0"/>
                <a:cs typeface="Times New Roman" panose="02020603050405020304" pitchFamily="18" charset="0"/>
              </a:rPr>
            </a:br>
            <a:r>
              <a:rPr lang="en-GB" sz="1100" dirty="0">
                <a:latin typeface="Times New Roman" panose="02020603050405020304" pitchFamily="18" charset="0"/>
                <a:cs typeface="Times New Roman" panose="02020603050405020304" pitchFamily="18" charset="0"/>
              </a:rPr>
              <a:t>Identify customer segments or branches responsible for the extra debit.</a:t>
            </a:r>
            <a:br>
              <a:rPr lang="en-GB" sz="1100" dirty="0">
                <a:latin typeface="Times New Roman" panose="02020603050405020304" pitchFamily="18" charset="0"/>
                <a:cs typeface="Times New Roman" panose="02020603050405020304" pitchFamily="18" charset="0"/>
              </a:rPr>
            </a:br>
            <a:r>
              <a:rPr lang="en-GB" sz="1100" dirty="0">
                <a:latin typeface="Times New Roman" panose="02020603050405020304" pitchFamily="18" charset="0"/>
                <a:cs typeface="Times New Roman" panose="02020603050405020304" pitchFamily="18" charset="0"/>
              </a:rPr>
              <a:t>Introduce automated alerts for abnormal debit patterns.</a:t>
            </a:r>
            <a:br>
              <a:rPr lang="en-GB" sz="1100" dirty="0">
                <a:latin typeface="Times New Roman" panose="02020603050405020304" pitchFamily="18" charset="0"/>
                <a:cs typeface="Times New Roman" panose="02020603050405020304" pitchFamily="18" charset="0"/>
              </a:rPr>
            </a:br>
            <a:br>
              <a:rPr lang="en-GB" sz="1100" dirty="0">
                <a:latin typeface="Times New Roman" panose="02020603050405020304" pitchFamily="18" charset="0"/>
                <a:cs typeface="Times New Roman" panose="02020603050405020304" pitchFamily="18" charset="0"/>
              </a:rPr>
            </a:br>
            <a:r>
              <a:rPr lang="en-GB" sz="1100" b="1" dirty="0">
                <a:latin typeface="Times New Roman" panose="02020603050405020304" pitchFamily="18" charset="0"/>
                <a:cs typeface="Times New Roman" panose="02020603050405020304" pitchFamily="18" charset="0"/>
              </a:rPr>
              <a:t>Recommendation</a:t>
            </a:r>
            <a:br>
              <a:rPr lang="en-GB" sz="1100" b="1" dirty="0">
                <a:latin typeface="Times New Roman" panose="02020603050405020304" pitchFamily="18" charset="0"/>
                <a:cs typeface="Times New Roman" panose="02020603050405020304" pitchFamily="18" charset="0"/>
              </a:rPr>
            </a:br>
            <a:r>
              <a:rPr lang="en-GB" sz="1100" dirty="0">
                <a:latin typeface="Times New Roman" panose="02020603050405020304" pitchFamily="18" charset="0"/>
                <a:cs typeface="Times New Roman" panose="02020603050405020304" pitchFamily="18" charset="0"/>
              </a:rPr>
              <a:t>Launch </a:t>
            </a:r>
            <a:r>
              <a:rPr lang="en-GB" sz="1100" b="1" dirty="0">
                <a:latin typeface="Times New Roman" panose="02020603050405020304" pitchFamily="18" charset="0"/>
                <a:cs typeface="Times New Roman" panose="02020603050405020304" pitchFamily="18" charset="0"/>
              </a:rPr>
              <a:t>high-interest savings products</a:t>
            </a:r>
            <a:r>
              <a:rPr lang="en-GB" sz="1100" dirty="0">
                <a:latin typeface="Times New Roman" panose="02020603050405020304" pitchFamily="18" charset="0"/>
                <a:cs typeface="Times New Roman" panose="02020603050405020304" pitchFamily="18" charset="0"/>
              </a:rPr>
              <a:t> to increase deposits.</a:t>
            </a:r>
            <a:br>
              <a:rPr lang="en-GB" sz="1100" dirty="0">
                <a:latin typeface="Times New Roman" panose="02020603050405020304" pitchFamily="18" charset="0"/>
                <a:cs typeface="Times New Roman" panose="02020603050405020304" pitchFamily="18" charset="0"/>
              </a:rPr>
            </a:br>
            <a:r>
              <a:rPr lang="en-GB" sz="1100" dirty="0">
                <a:latin typeface="Times New Roman" panose="02020603050405020304" pitchFamily="18" charset="0"/>
                <a:cs typeface="Times New Roman" panose="02020603050405020304" pitchFamily="18" charset="0"/>
              </a:rPr>
              <a:t>Implement </a:t>
            </a:r>
            <a:r>
              <a:rPr lang="en-GB" sz="1100" b="1" dirty="0">
                <a:latin typeface="Times New Roman" panose="02020603050405020304" pitchFamily="18" charset="0"/>
                <a:cs typeface="Times New Roman" panose="02020603050405020304" pitchFamily="18" charset="0"/>
              </a:rPr>
              <a:t>monthly debit monitoring dashboard</a:t>
            </a:r>
            <a:r>
              <a:rPr lang="en-GB" sz="1100" dirty="0">
                <a:latin typeface="Times New Roman" panose="02020603050405020304" pitchFamily="18" charset="0"/>
                <a:cs typeface="Times New Roman" panose="02020603050405020304" pitchFamily="18" charset="0"/>
              </a:rPr>
              <a:t> for early detection of high outflows.</a:t>
            </a:r>
            <a:br>
              <a:rPr lang="en-GB" sz="11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97D66F7B-5141-428A-837F-0D0F7FB0D824}"/>
              </a:ext>
            </a:extLst>
          </p:cNvPr>
          <p:cNvSpPr>
            <a:spLocks noGrp="1"/>
          </p:cNvSpPr>
          <p:nvPr>
            <p:ph type="title" idx="2"/>
          </p:nvPr>
        </p:nvSpPr>
        <p:spPr>
          <a:xfrm>
            <a:off x="495815" y="216582"/>
            <a:ext cx="7823306" cy="621085"/>
          </a:xfrm>
        </p:spPr>
        <p:txBody>
          <a:bodyPr/>
          <a:lstStyle/>
          <a:p>
            <a:r>
              <a:rPr lang="en-GB" sz="3200" dirty="0"/>
              <a:t>Key Insights with Recommendations </a:t>
            </a:r>
            <a:endParaRPr lang="en-IN" sz="3200" dirty="0"/>
          </a:p>
        </p:txBody>
      </p:sp>
      <p:sp>
        <p:nvSpPr>
          <p:cNvPr id="4" name="Title 1">
            <a:extLst>
              <a:ext uri="{FF2B5EF4-FFF2-40B4-BE49-F238E27FC236}">
                <a16:creationId xmlns:a16="http://schemas.microsoft.com/office/drawing/2014/main" id="{A0ECA170-F60F-4DEF-BB0B-500212E9235F}"/>
              </a:ext>
            </a:extLst>
          </p:cNvPr>
          <p:cNvSpPr txBox="1">
            <a:spLocks/>
          </p:cNvSpPr>
          <p:nvPr/>
        </p:nvSpPr>
        <p:spPr>
          <a:xfrm>
            <a:off x="4572000" y="760935"/>
            <a:ext cx="4469690" cy="400505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3600"/>
              <a:buFont typeface="Syne"/>
              <a:buNone/>
              <a:defRPr sz="5000" b="0" i="0" u="none" strike="noStrike" cap="none">
                <a:solidFill>
                  <a:schemeClr val="dk1"/>
                </a:solidFill>
                <a:latin typeface="Syne SemiBold"/>
                <a:ea typeface="Syne SemiBold"/>
                <a:cs typeface="Syne SemiBold"/>
                <a:sym typeface="Syne SemiBold"/>
              </a:defRPr>
            </a:lvl1pPr>
            <a:lvl2pPr marR="0" lvl="1"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2pPr>
            <a:lvl3pPr marR="0" lvl="2"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3pPr>
            <a:lvl4pPr marR="0" lvl="3"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4pPr>
            <a:lvl5pPr marR="0" lvl="4"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5pPr>
            <a:lvl6pPr marR="0" lvl="5"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6pPr>
            <a:lvl7pPr marR="0" lvl="6"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7pPr>
            <a:lvl8pPr marR="0" lvl="7"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8pPr>
            <a:lvl9pPr marR="0" lvl="8"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9pPr>
          </a:lstStyle>
          <a:p>
            <a:pPr algn="l"/>
            <a:r>
              <a:rPr lang="en-GB" sz="1100" b="1" dirty="0">
                <a:latin typeface="Times New Roman" panose="02020603050405020304" pitchFamily="18" charset="0"/>
                <a:cs typeface="Times New Roman" panose="02020603050405020304" pitchFamily="18" charset="0"/>
              </a:rPr>
              <a:t>Certain Banks Handle Higher Transaction Volumes but Do Not Show Higher Balances</a:t>
            </a:r>
          </a:p>
          <a:p>
            <a:pPr algn="l"/>
            <a:endParaRPr lang="en-GB" sz="1000" b="1" dirty="0">
              <a:latin typeface="Times New Roman" panose="02020603050405020304" pitchFamily="18" charset="0"/>
              <a:cs typeface="Times New Roman" panose="02020603050405020304" pitchFamily="18" charset="0"/>
            </a:endParaRPr>
          </a:p>
          <a:p>
            <a:pPr algn="l"/>
            <a:r>
              <a:rPr lang="en-GB" sz="1100" dirty="0">
                <a:latin typeface="Times New Roman" panose="02020603050405020304" pitchFamily="18" charset="0"/>
                <a:cs typeface="Times New Roman" panose="02020603050405020304" pitchFamily="18" charset="0"/>
              </a:rPr>
              <a:t>From charts “Sum of Amount by Bank Name”:</a:t>
            </a:r>
          </a:p>
          <a:p>
            <a:pPr algn="l"/>
            <a:r>
              <a:rPr lang="en-GB" sz="1100" dirty="0">
                <a:latin typeface="Times New Roman" panose="02020603050405020304" pitchFamily="18" charset="0"/>
                <a:cs typeface="Times New Roman" panose="02020603050405020304" pitchFamily="18" charset="0"/>
              </a:rPr>
              <a:t>Kotak Mahindra, SBI, ICICI handle </a:t>
            </a:r>
            <a:r>
              <a:rPr lang="en-GB" sz="1100" b="1" dirty="0">
                <a:latin typeface="Times New Roman" panose="02020603050405020304" pitchFamily="18" charset="0"/>
                <a:cs typeface="Times New Roman" panose="02020603050405020304" pitchFamily="18" charset="0"/>
              </a:rPr>
              <a:t>highest transaction volumes</a:t>
            </a:r>
            <a:r>
              <a:rPr lang="en-GB" sz="1100" dirty="0">
                <a:latin typeface="Times New Roman" panose="02020603050405020304" pitchFamily="18" charset="0"/>
                <a:cs typeface="Times New Roman" panose="02020603050405020304" pitchFamily="18" charset="0"/>
              </a:rPr>
              <a:t> (~19–20M each).</a:t>
            </a:r>
          </a:p>
          <a:p>
            <a:pPr algn="l"/>
            <a:r>
              <a:rPr lang="en-GB" sz="1100" dirty="0">
                <a:latin typeface="Times New Roman" panose="02020603050405020304" pitchFamily="18" charset="0"/>
                <a:cs typeface="Times New Roman" panose="02020603050405020304" pitchFamily="18" charset="0"/>
              </a:rPr>
              <a:t>But credit and debit values are almost identical → </a:t>
            </a:r>
            <a:r>
              <a:rPr lang="en-GB" sz="1100" b="1" dirty="0">
                <a:latin typeface="Times New Roman" panose="02020603050405020304" pitchFamily="18" charset="0"/>
                <a:cs typeface="Times New Roman" panose="02020603050405020304" pitchFamily="18" charset="0"/>
              </a:rPr>
              <a:t>no surplus generated</a:t>
            </a:r>
            <a:r>
              <a:rPr lang="en-GB" sz="1100" dirty="0">
                <a:latin typeface="Times New Roman" panose="02020603050405020304" pitchFamily="18" charset="0"/>
                <a:cs typeface="Times New Roman" panose="02020603050405020304" pitchFamily="18" charset="0"/>
              </a:rPr>
              <a:t>.</a:t>
            </a:r>
          </a:p>
          <a:p>
            <a:pPr algn="l"/>
            <a:endParaRPr lang="en-GB" sz="1100" dirty="0">
              <a:latin typeface="Times New Roman" panose="02020603050405020304" pitchFamily="18" charset="0"/>
              <a:cs typeface="Times New Roman" panose="02020603050405020304" pitchFamily="18" charset="0"/>
            </a:endParaRPr>
          </a:p>
          <a:p>
            <a:pPr algn="l"/>
            <a:r>
              <a:rPr lang="en-GB" sz="1100" b="1" dirty="0">
                <a:latin typeface="Times New Roman" panose="02020603050405020304" pitchFamily="18" charset="0"/>
                <a:cs typeface="Times New Roman" panose="02020603050405020304" pitchFamily="18" charset="0"/>
              </a:rPr>
              <a:t>Problem</a:t>
            </a:r>
          </a:p>
          <a:p>
            <a:pPr algn="l"/>
            <a:r>
              <a:rPr lang="en-GB" sz="1100" dirty="0">
                <a:latin typeface="Times New Roman" panose="02020603050405020304" pitchFamily="18" charset="0"/>
                <a:cs typeface="Times New Roman" panose="02020603050405020304" pitchFamily="18" charset="0"/>
              </a:rPr>
              <a:t>High volume does not translate to high profitability.</a:t>
            </a:r>
          </a:p>
          <a:p>
            <a:pPr algn="l"/>
            <a:r>
              <a:rPr lang="en-GB" sz="1100" dirty="0">
                <a:latin typeface="Times New Roman" panose="02020603050405020304" pitchFamily="18" charset="0"/>
                <a:cs typeface="Times New Roman" panose="02020603050405020304" pitchFamily="18" charset="0"/>
              </a:rPr>
              <a:t>No differentiation in customer behaviour across banks.</a:t>
            </a:r>
          </a:p>
          <a:p>
            <a:pPr algn="l"/>
            <a:endParaRPr lang="en-GB" sz="1100" dirty="0">
              <a:latin typeface="Times New Roman" panose="02020603050405020304" pitchFamily="18" charset="0"/>
              <a:cs typeface="Times New Roman" panose="02020603050405020304" pitchFamily="18" charset="0"/>
            </a:endParaRPr>
          </a:p>
          <a:p>
            <a:pPr algn="l"/>
            <a:r>
              <a:rPr lang="en-GB" sz="1100" b="1" dirty="0">
                <a:latin typeface="Times New Roman" panose="02020603050405020304" pitchFamily="18" charset="0"/>
                <a:cs typeface="Times New Roman" panose="02020603050405020304" pitchFamily="18" charset="0"/>
              </a:rPr>
              <a:t>Solution</a:t>
            </a:r>
          </a:p>
          <a:p>
            <a:pPr algn="l"/>
            <a:r>
              <a:rPr lang="en-GB" sz="1100" dirty="0">
                <a:latin typeface="Times New Roman" panose="02020603050405020304" pitchFamily="18" charset="0"/>
                <a:cs typeface="Times New Roman" panose="02020603050405020304" pitchFamily="18" charset="0"/>
              </a:rPr>
              <a:t>Conduct profitability segmentation by:</a:t>
            </a:r>
          </a:p>
          <a:p>
            <a:pPr marL="457200" lvl="1" algn="l"/>
            <a:r>
              <a:rPr lang="en-GB" sz="1100" dirty="0">
                <a:latin typeface="Times New Roman" panose="02020603050405020304" pitchFamily="18" charset="0"/>
                <a:cs typeface="Times New Roman" panose="02020603050405020304" pitchFamily="18" charset="0"/>
              </a:rPr>
              <a:t>Customer category</a:t>
            </a:r>
          </a:p>
          <a:p>
            <a:pPr marL="457200" lvl="1" algn="l"/>
            <a:r>
              <a:rPr lang="en-GB" sz="1100" dirty="0">
                <a:latin typeface="Times New Roman" panose="02020603050405020304" pitchFamily="18" charset="0"/>
                <a:cs typeface="Times New Roman" panose="02020603050405020304" pitchFamily="18" charset="0"/>
              </a:rPr>
              <a:t>Product type (credit card, bank transfer, cash)</a:t>
            </a:r>
          </a:p>
          <a:p>
            <a:pPr marL="457200" lvl="1" algn="l"/>
            <a:r>
              <a:rPr lang="en-GB" sz="1100" dirty="0">
                <a:latin typeface="Times New Roman" panose="02020603050405020304" pitchFamily="18" charset="0"/>
                <a:cs typeface="Times New Roman" panose="02020603050405020304" pitchFamily="18" charset="0"/>
              </a:rPr>
              <a:t>High-value vs. low-value accounts</a:t>
            </a:r>
          </a:p>
          <a:p>
            <a:pPr marL="457200" lvl="1" algn="l"/>
            <a:endParaRPr lang="en-GB" sz="1100" dirty="0">
              <a:latin typeface="Times New Roman" panose="02020603050405020304" pitchFamily="18" charset="0"/>
              <a:cs typeface="Times New Roman" panose="02020603050405020304" pitchFamily="18" charset="0"/>
            </a:endParaRPr>
          </a:p>
          <a:p>
            <a:pPr algn="l"/>
            <a:r>
              <a:rPr lang="en-GB" sz="1100" b="1" dirty="0">
                <a:latin typeface="Times New Roman" panose="02020603050405020304" pitchFamily="18" charset="0"/>
                <a:cs typeface="Times New Roman" panose="02020603050405020304" pitchFamily="18" charset="0"/>
              </a:rPr>
              <a:t>Recommendation</a:t>
            </a:r>
          </a:p>
          <a:p>
            <a:pPr algn="l"/>
            <a:r>
              <a:rPr lang="en-GB" sz="1100" dirty="0">
                <a:latin typeface="Times New Roman" panose="02020603050405020304" pitchFamily="18" charset="0"/>
                <a:cs typeface="Times New Roman" panose="02020603050405020304" pitchFamily="18" charset="0"/>
              </a:rPr>
              <a:t>Introduce </a:t>
            </a:r>
            <a:r>
              <a:rPr lang="en-GB" sz="1100" b="1" dirty="0">
                <a:latin typeface="Times New Roman" panose="02020603050405020304" pitchFamily="18" charset="0"/>
                <a:cs typeface="Times New Roman" panose="02020603050405020304" pitchFamily="18" charset="0"/>
              </a:rPr>
              <a:t>bank-specific targeted cross-sell campaigns</a:t>
            </a:r>
            <a:r>
              <a:rPr lang="en-GB" sz="1100" dirty="0">
                <a:latin typeface="Times New Roman" panose="02020603050405020304" pitchFamily="18" charset="0"/>
                <a:cs typeface="Times New Roman" panose="02020603050405020304" pitchFamily="18" charset="0"/>
              </a:rPr>
              <a:t> (credit cards, loans, savings plans) to improve profitability from high-volume banks.</a:t>
            </a:r>
          </a:p>
          <a:p>
            <a:pPr algn="l"/>
            <a:br>
              <a:rPr lang="en-GB" sz="11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89948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AFFAA-C24F-4F79-B06E-632DBB491F1F}"/>
              </a:ext>
            </a:extLst>
          </p:cNvPr>
          <p:cNvSpPr>
            <a:spLocks noGrp="1"/>
          </p:cNvSpPr>
          <p:nvPr>
            <p:ph type="title"/>
          </p:nvPr>
        </p:nvSpPr>
        <p:spPr>
          <a:xfrm>
            <a:off x="182870" y="150882"/>
            <a:ext cx="2643457" cy="4408329"/>
          </a:xfrm>
        </p:spPr>
        <p:txBody>
          <a:bodyPr/>
          <a:lstStyle/>
          <a:p>
            <a:r>
              <a:rPr lang="en-GB" sz="1100" b="1" dirty="0">
                <a:latin typeface="Times New Roman" panose="02020603050405020304" pitchFamily="18" charset="0"/>
                <a:cs typeface="Times New Roman" panose="02020603050405020304" pitchFamily="18" charset="0"/>
              </a:rPr>
              <a:t>Branch-Level Performance Shows Low Variance But No Clear Leaders</a:t>
            </a:r>
            <a:br>
              <a:rPr lang="en-GB" sz="1100" b="1" dirty="0">
                <a:latin typeface="Times New Roman" panose="02020603050405020304" pitchFamily="18" charset="0"/>
                <a:cs typeface="Times New Roman" panose="02020603050405020304" pitchFamily="18" charset="0"/>
              </a:rPr>
            </a:br>
            <a:br>
              <a:rPr lang="en-GB" sz="1100" b="1"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All branches (East, City Centre, Suburban, Main Branch) show similar total transaction amounts around 19M.</a:t>
            </a:r>
            <a:br>
              <a:rPr lang="en-GB" sz="1100" b="0" dirty="0">
                <a:latin typeface="Times New Roman" panose="02020603050405020304" pitchFamily="18" charset="0"/>
                <a:cs typeface="Times New Roman" panose="02020603050405020304" pitchFamily="18" charset="0"/>
              </a:rPr>
            </a:b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No branch is significantly outperforming</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 → flat performance.</a:t>
            </a:r>
            <a:br>
              <a:rPr lang="en-GB" sz="1100" b="0" dirty="0">
                <a:latin typeface="Times New Roman" panose="02020603050405020304" pitchFamily="18" charset="0"/>
                <a:cs typeface="Times New Roman" panose="02020603050405020304" pitchFamily="18" charset="0"/>
              </a:rPr>
            </a:br>
            <a:br>
              <a:rPr lang="en-GB" sz="1100" b="0" dirty="0">
                <a:latin typeface="Times New Roman" panose="02020603050405020304" pitchFamily="18" charset="0"/>
                <a:cs typeface="Times New Roman" panose="02020603050405020304" pitchFamily="18" charset="0"/>
              </a:rPr>
            </a:br>
            <a:r>
              <a:rPr lang="en-GB" sz="1100" dirty="0">
                <a:latin typeface="Times New Roman" panose="02020603050405020304" pitchFamily="18" charset="0"/>
                <a:cs typeface="Times New Roman" panose="02020603050405020304" pitchFamily="18" charset="0"/>
              </a:rPr>
              <a:t>Problem</a:t>
            </a:r>
            <a:br>
              <a:rPr lang="en-GB" sz="110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Lack of branch differentiation.</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Branch managers may not focus on targeted growth.</a:t>
            </a:r>
            <a:br>
              <a:rPr lang="en-GB" sz="1100" b="0" dirty="0">
                <a:latin typeface="Times New Roman" panose="02020603050405020304" pitchFamily="18" charset="0"/>
                <a:cs typeface="Times New Roman" panose="02020603050405020304" pitchFamily="18" charset="0"/>
              </a:rPr>
            </a:br>
            <a:br>
              <a:rPr lang="en-GB" sz="1100" b="0" dirty="0">
                <a:latin typeface="Times New Roman" panose="02020603050405020304" pitchFamily="18" charset="0"/>
                <a:cs typeface="Times New Roman" panose="02020603050405020304" pitchFamily="18" charset="0"/>
              </a:rPr>
            </a:br>
            <a:r>
              <a:rPr lang="en-GB" sz="1100" dirty="0">
                <a:latin typeface="Times New Roman" panose="02020603050405020304" pitchFamily="18" charset="0"/>
                <a:cs typeface="Times New Roman" panose="02020603050405020304" pitchFamily="18" charset="0"/>
              </a:rPr>
              <a:t>Solution</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Introduce branch KPIs:</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Customer acquisition rate</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Credit-to-debit improvement metric</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Cross-sell success rate</a:t>
            </a:r>
            <a:br>
              <a:rPr lang="en-GB" sz="1100" b="0" dirty="0">
                <a:latin typeface="Times New Roman" panose="02020603050405020304" pitchFamily="18" charset="0"/>
                <a:cs typeface="Times New Roman" panose="02020603050405020304" pitchFamily="18" charset="0"/>
              </a:rPr>
            </a:br>
            <a:br>
              <a:rPr lang="en-GB" sz="1100" b="0" dirty="0">
                <a:latin typeface="Times New Roman" panose="02020603050405020304" pitchFamily="18" charset="0"/>
                <a:cs typeface="Times New Roman" panose="02020603050405020304" pitchFamily="18" charset="0"/>
              </a:rPr>
            </a:br>
            <a:r>
              <a:rPr lang="en-GB" sz="1100" dirty="0">
                <a:latin typeface="Times New Roman" panose="02020603050405020304" pitchFamily="18" charset="0"/>
                <a:cs typeface="Times New Roman" panose="02020603050405020304" pitchFamily="18" charset="0"/>
              </a:rPr>
              <a:t>Recommendation</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Implement performance-based incentive programs to drive branch-specific improvements.</a:t>
            </a:r>
            <a:br>
              <a:rPr lang="en-GB" sz="1100" dirty="0">
                <a:latin typeface="Times New Roman" panose="02020603050405020304" pitchFamily="18" charset="0"/>
                <a:cs typeface="Times New Roman" panose="02020603050405020304" pitchFamily="18" charset="0"/>
              </a:rPr>
            </a:br>
            <a:endParaRPr lang="en-IN" sz="1100" dirty="0">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A9EC19DC-B7E7-4E7B-BF92-EB66AD8D7E41}"/>
              </a:ext>
            </a:extLst>
          </p:cNvPr>
          <p:cNvSpPr txBox="1">
            <a:spLocks/>
          </p:cNvSpPr>
          <p:nvPr/>
        </p:nvSpPr>
        <p:spPr>
          <a:xfrm>
            <a:off x="3062921" y="135509"/>
            <a:ext cx="2772410" cy="44083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1pPr>
            <a:lvl2pPr marR="0" lvl="1"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2pPr>
            <a:lvl3pPr marR="0" lvl="2"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3pPr>
            <a:lvl4pPr marR="0" lvl="3"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4pPr>
            <a:lvl5pPr marR="0" lvl="4"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5pPr>
            <a:lvl6pPr marR="0" lvl="5"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6pPr>
            <a:lvl7pPr marR="0" lvl="6"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7pPr>
            <a:lvl8pPr marR="0" lvl="7"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8pPr>
            <a:lvl9pPr marR="0" lvl="8"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9pPr>
          </a:lstStyle>
          <a:p>
            <a:r>
              <a:rPr lang="en-GB" sz="1100" dirty="0">
                <a:latin typeface="Times New Roman" panose="02020603050405020304" pitchFamily="18" charset="0"/>
                <a:cs typeface="Times New Roman" panose="02020603050405020304" pitchFamily="18" charset="0"/>
              </a:rPr>
              <a:t>Debit Transactions Spike in Certain Months (Oct–Dec)</a:t>
            </a:r>
          </a:p>
          <a:p>
            <a:endParaRPr lang="en-GB" sz="1100" dirty="0">
              <a:latin typeface="Times New Roman" panose="02020603050405020304" pitchFamily="18" charset="0"/>
              <a:cs typeface="Times New Roman" panose="02020603050405020304" pitchFamily="18" charset="0"/>
            </a:endParaRPr>
          </a:p>
          <a:p>
            <a:r>
              <a:rPr lang="en-GB" sz="1100" b="0" dirty="0">
                <a:latin typeface="Times New Roman" panose="02020603050405020304" pitchFamily="18" charset="0"/>
                <a:cs typeface="Times New Roman" panose="02020603050405020304" pitchFamily="18" charset="0"/>
              </a:rPr>
              <a:t>From the month-wise trend:</a:t>
            </a:r>
          </a:p>
          <a:p>
            <a:r>
              <a:rPr lang="en-GB" sz="1100" b="0" dirty="0">
                <a:latin typeface="Times New Roman" panose="02020603050405020304" pitchFamily="18" charset="0"/>
                <a:cs typeface="Times New Roman" panose="02020603050405020304" pitchFamily="18" charset="0"/>
              </a:rPr>
              <a:t>Months like October–December show higher debit volumes compared to credit.</a:t>
            </a:r>
          </a:p>
          <a:p>
            <a:r>
              <a:rPr lang="en-GB" sz="1100" b="0" dirty="0">
                <a:latin typeface="Times New Roman" panose="02020603050405020304" pitchFamily="18" charset="0"/>
                <a:cs typeface="Times New Roman" panose="02020603050405020304" pitchFamily="18" charset="0"/>
              </a:rPr>
              <a:t>Possible seasonal withdrawals or pay-outs.</a:t>
            </a:r>
          </a:p>
          <a:p>
            <a:endParaRPr lang="en-GB" sz="1100" b="0" dirty="0">
              <a:latin typeface="Times New Roman" panose="02020603050405020304" pitchFamily="18" charset="0"/>
              <a:cs typeface="Times New Roman" panose="02020603050405020304" pitchFamily="18" charset="0"/>
            </a:endParaRPr>
          </a:p>
          <a:p>
            <a:r>
              <a:rPr lang="en-GB" sz="1100" dirty="0">
                <a:latin typeface="Times New Roman" panose="02020603050405020304" pitchFamily="18" charset="0"/>
                <a:cs typeface="Times New Roman" panose="02020603050405020304" pitchFamily="18" charset="0"/>
              </a:rPr>
              <a:t>Problem</a:t>
            </a:r>
          </a:p>
          <a:p>
            <a:r>
              <a:rPr lang="en-GB" sz="1100" b="0" dirty="0">
                <a:latin typeface="Times New Roman" panose="02020603050405020304" pitchFamily="18" charset="0"/>
                <a:cs typeface="Times New Roman" panose="02020603050405020304" pitchFamily="18" charset="0"/>
              </a:rPr>
              <a:t>Seasonal cash outflow increases risk of liquidity imbalance.</a:t>
            </a:r>
          </a:p>
          <a:p>
            <a:r>
              <a:rPr lang="en-GB" sz="1100" b="0" dirty="0">
                <a:latin typeface="Times New Roman" panose="02020603050405020304" pitchFamily="18" charset="0"/>
                <a:cs typeface="Times New Roman" panose="02020603050405020304" pitchFamily="18" charset="0"/>
              </a:rPr>
              <a:t>Customer credit inflow does not increase proportionally.</a:t>
            </a:r>
          </a:p>
          <a:p>
            <a:endParaRPr lang="en-GB" sz="1100" b="0" dirty="0">
              <a:latin typeface="Times New Roman" panose="02020603050405020304" pitchFamily="18" charset="0"/>
              <a:cs typeface="Times New Roman" panose="02020603050405020304" pitchFamily="18" charset="0"/>
            </a:endParaRPr>
          </a:p>
          <a:p>
            <a:r>
              <a:rPr lang="en-GB" sz="1100" dirty="0">
                <a:latin typeface="Times New Roman" panose="02020603050405020304" pitchFamily="18" charset="0"/>
                <a:cs typeface="Times New Roman" panose="02020603050405020304" pitchFamily="18" charset="0"/>
              </a:rPr>
              <a:t>Solution</a:t>
            </a:r>
          </a:p>
          <a:p>
            <a:r>
              <a:rPr lang="en-GB" sz="1100" b="0" dirty="0">
                <a:latin typeface="Times New Roman" panose="02020603050405020304" pitchFamily="18" charset="0"/>
                <a:cs typeface="Times New Roman" panose="02020603050405020304" pitchFamily="18" charset="0"/>
              </a:rPr>
              <a:t>Predictive modelling to forecast debit surges.</a:t>
            </a:r>
          </a:p>
          <a:p>
            <a:r>
              <a:rPr lang="en-GB" sz="1100" b="0" dirty="0">
                <a:latin typeface="Times New Roman" panose="02020603050405020304" pitchFamily="18" charset="0"/>
                <a:cs typeface="Times New Roman" panose="02020603050405020304" pitchFamily="18" charset="0"/>
              </a:rPr>
              <a:t>Seasonal promotional campaigns to keep funds within the bank (FD/SIP offers).</a:t>
            </a:r>
          </a:p>
          <a:p>
            <a:endParaRPr lang="en-GB" sz="1100" b="0" dirty="0">
              <a:latin typeface="Times New Roman" panose="02020603050405020304" pitchFamily="18" charset="0"/>
              <a:cs typeface="Times New Roman" panose="02020603050405020304" pitchFamily="18" charset="0"/>
            </a:endParaRPr>
          </a:p>
          <a:p>
            <a:r>
              <a:rPr lang="en-GB" sz="1100" dirty="0">
                <a:latin typeface="Times New Roman" panose="02020603050405020304" pitchFamily="18" charset="0"/>
                <a:cs typeface="Times New Roman" panose="02020603050405020304" pitchFamily="18" charset="0"/>
              </a:rPr>
              <a:t>Recommendation</a:t>
            </a:r>
          </a:p>
          <a:p>
            <a:r>
              <a:rPr lang="en-GB" sz="1100" b="0" dirty="0">
                <a:latin typeface="Times New Roman" panose="02020603050405020304" pitchFamily="18" charset="0"/>
                <a:cs typeface="Times New Roman" panose="02020603050405020304" pitchFamily="18" charset="0"/>
              </a:rPr>
              <a:t>Launch Q3-Q4 retention campaigns:</a:t>
            </a:r>
          </a:p>
          <a:p>
            <a:pPr marL="457200" lvl="1"/>
            <a:r>
              <a:rPr lang="en-GB" sz="1100" b="0" dirty="0">
                <a:latin typeface="Times New Roman" panose="02020603050405020304" pitchFamily="18" charset="0"/>
                <a:cs typeface="Times New Roman" panose="02020603050405020304" pitchFamily="18" charset="0"/>
              </a:rPr>
              <a:t>“Year-end festival savings offers”</a:t>
            </a:r>
          </a:p>
          <a:p>
            <a:pPr marL="457200" lvl="1"/>
            <a:r>
              <a:rPr lang="en-GB" sz="1100" b="0" dirty="0">
                <a:latin typeface="Times New Roman" panose="02020603050405020304" pitchFamily="18" charset="0"/>
                <a:cs typeface="Times New Roman" panose="02020603050405020304" pitchFamily="18" charset="0"/>
              </a:rPr>
              <a:t>Incentivized long-term deposits</a:t>
            </a:r>
          </a:p>
        </p:txBody>
      </p:sp>
      <p:sp>
        <p:nvSpPr>
          <p:cNvPr id="4" name="Title 1">
            <a:extLst>
              <a:ext uri="{FF2B5EF4-FFF2-40B4-BE49-F238E27FC236}">
                <a16:creationId xmlns:a16="http://schemas.microsoft.com/office/drawing/2014/main" id="{A38770FF-CF85-4E79-BD1C-7F1740AD9B26}"/>
              </a:ext>
            </a:extLst>
          </p:cNvPr>
          <p:cNvSpPr txBox="1">
            <a:spLocks/>
          </p:cNvSpPr>
          <p:nvPr/>
        </p:nvSpPr>
        <p:spPr>
          <a:xfrm>
            <a:off x="6081080" y="135509"/>
            <a:ext cx="2978727" cy="442370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1pPr>
            <a:lvl2pPr marR="0" lvl="1"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2pPr>
            <a:lvl3pPr marR="0" lvl="2"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3pPr>
            <a:lvl4pPr marR="0" lvl="3"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4pPr>
            <a:lvl5pPr marR="0" lvl="4"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5pPr>
            <a:lvl6pPr marR="0" lvl="5"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6pPr>
            <a:lvl7pPr marR="0" lvl="6"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7pPr>
            <a:lvl8pPr marR="0" lvl="7"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8pPr>
            <a:lvl9pPr marR="0" lvl="8"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9pPr>
          </a:lstStyle>
          <a:p>
            <a:r>
              <a:rPr lang="en-GB" sz="1100" dirty="0">
                <a:latin typeface="Times New Roman" panose="02020603050405020304" pitchFamily="18" charset="0"/>
                <a:cs typeface="Times New Roman" panose="02020603050405020304" pitchFamily="18" charset="0"/>
              </a:rPr>
              <a:t>Transaction Method Distribution Is Skewed</a:t>
            </a:r>
          </a:p>
          <a:p>
            <a:endParaRPr lang="en-GB" sz="1100" b="0" dirty="0">
              <a:latin typeface="Times New Roman" panose="02020603050405020304" pitchFamily="18" charset="0"/>
              <a:cs typeface="Times New Roman" panose="02020603050405020304" pitchFamily="18" charset="0"/>
            </a:endParaRPr>
          </a:p>
          <a:p>
            <a:r>
              <a:rPr lang="en-GB" sz="1100" b="0" dirty="0">
                <a:latin typeface="Times New Roman" panose="02020603050405020304" pitchFamily="18" charset="0"/>
                <a:cs typeface="Times New Roman" panose="02020603050405020304" pitchFamily="18" charset="0"/>
              </a:rPr>
              <a:t>Pie chart shows:</a:t>
            </a:r>
          </a:p>
          <a:p>
            <a:r>
              <a:rPr lang="en-GB" sz="1100" b="0" dirty="0">
                <a:latin typeface="Times New Roman" panose="02020603050405020304" pitchFamily="18" charset="0"/>
                <a:cs typeface="Times New Roman" panose="02020603050405020304" pitchFamily="18" charset="0"/>
              </a:rPr>
              <a:t>33% via credit card</a:t>
            </a:r>
          </a:p>
          <a:p>
            <a:r>
              <a:rPr lang="en-GB" sz="1100" b="0" dirty="0">
                <a:latin typeface="Times New Roman" panose="02020603050405020304" pitchFamily="18" charset="0"/>
                <a:cs typeface="Times New Roman" panose="02020603050405020304" pitchFamily="18" charset="0"/>
              </a:rPr>
              <a:t>33% via debit card</a:t>
            </a:r>
          </a:p>
          <a:p>
            <a:r>
              <a:rPr lang="en-GB" sz="1100" b="0" dirty="0">
                <a:latin typeface="Times New Roman" panose="02020603050405020304" pitchFamily="18" charset="0"/>
                <a:cs typeface="Times New Roman" panose="02020603050405020304" pitchFamily="18" charset="0"/>
              </a:rPr>
              <a:t>33% via bank transfer</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All methods equally used.</a:t>
            </a:r>
          </a:p>
          <a:p>
            <a:endParaRPr lang="en-GB" sz="1100" b="0" dirty="0">
              <a:latin typeface="Times New Roman" panose="02020603050405020304" pitchFamily="18" charset="0"/>
              <a:cs typeface="Times New Roman" panose="02020603050405020304" pitchFamily="18" charset="0"/>
            </a:endParaRPr>
          </a:p>
          <a:p>
            <a:r>
              <a:rPr lang="en-GB" sz="1100" dirty="0">
                <a:latin typeface="Times New Roman" panose="02020603050405020304" pitchFamily="18" charset="0"/>
                <a:cs typeface="Times New Roman" panose="02020603050405020304" pitchFamily="18" charset="0"/>
              </a:rPr>
              <a:t>Problem</a:t>
            </a:r>
          </a:p>
          <a:p>
            <a:r>
              <a:rPr lang="en-GB" sz="1100" b="0" dirty="0">
                <a:latin typeface="Times New Roman" panose="02020603050405020304" pitchFamily="18" charset="0"/>
                <a:cs typeface="Times New Roman" panose="02020603050405020304" pitchFamily="18" charset="0"/>
              </a:rPr>
              <a:t>No dominant method → Difficult to optimize payment infrastructure.</a:t>
            </a:r>
          </a:p>
          <a:p>
            <a:r>
              <a:rPr lang="en-GB" sz="1100" b="0" dirty="0">
                <a:latin typeface="Times New Roman" panose="02020603050405020304" pitchFamily="18" charset="0"/>
                <a:cs typeface="Times New Roman" panose="02020603050405020304" pitchFamily="18" charset="0"/>
              </a:rPr>
              <a:t>Costs of processing remain high because no method is leveraged strategically.</a:t>
            </a:r>
          </a:p>
          <a:p>
            <a:endParaRPr lang="en-GB" sz="1100" b="0" dirty="0">
              <a:latin typeface="Times New Roman" panose="02020603050405020304" pitchFamily="18" charset="0"/>
              <a:cs typeface="Times New Roman" panose="02020603050405020304" pitchFamily="18" charset="0"/>
            </a:endParaRPr>
          </a:p>
          <a:p>
            <a:r>
              <a:rPr lang="en-GB" sz="1100" dirty="0">
                <a:latin typeface="Times New Roman" panose="02020603050405020304" pitchFamily="18" charset="0"/>
                <a:cs typeface="Times New Roman" panose="02020603050405020304" pitchFamily="18" charset="0"/>
              </a:rPr>
              <a:t>Solution</a:t>
            </a:r>
          </a:p>
          <a:p>
            <a:r>
              <a:rPr lang="en-GB" sz="1100" b="0" dirty="0">
                <a:latin typeface="Times New Roman" panose="02020603050405020304" pitchFamily="18" charset="0"/>
                <a:cs typeface="Times New Roman" panose="02020603050405020304" pitchFamily="18" charset="0"/>
              </a:rPr>
              <a:t>Identify customer-wise method preference (salary transfers, UPI, cards, etc.)</a:t>
            </a:r>
          </a:p>
          <a:p>
            <a:r>
              <a:rPr lang="en-GB" sz="1100" b="0" dirty="0">
                <a:latin typeface="Times New Roman" panose="02020603050405020304" pitchFamily="18" charset="0"/>
                <a:cs typeface="Times New Roman" panose="02020603050405020304" pitchFamily="18" charset="0"/>
              </a:rPr>
              <a:t>Shift high-cost transactions to low-cost digital channels.</a:t>
            </a:r>
          </a:p>
          <a:p>
            <a:endParaRPr lang="en-GB" sz="1100" b="0" dirty="0">
              <a:latin typeface="Times New Roman" panose="02020603050405020304" pitchFamily="18" charset="0"/>
              <a:cs typeface="Times New Roman" panose="02020603050405020304" pitchFamily="18" charset="0"/>
            </a:endParaRPr>
          </a:p>
          <a:p>
            <a:r>
              <a:rPr lang="en-GB" sz="1100" dirty="0">
                <a:latin typeface="Times New Roman" panose="02020603050405020304" pitchFamily="18" charset="0"/>
                <a:cs typeface="Times New Roman" panose="02020603050405020304" pitchFamily="18" charset="0"/>
              </a:rPr>
              <a:t>Recommendation</a:t>
            </a:r>
          </a:p>
          <a:p>
            <a:r>
              <a:rPr lang="en-GB" sz="1100" b="0" dirty="0">
                <a:latin typeface="Times New Roman" panose="02020603050405020304" pitchFamily="18" charset="0"/>
                <a:cs typeface="Times New Roman" panose="02020603050405020304" pitchFamily="18" charset="0"/>
              </a:rPr>
              <a:t>Offer incentives for online banking or UPI methods which have lower transaction costs.</a:t>
            </a:r>
          </a:p>
          <a:p>
            <a:r>
              <a:rPr lang="en-GB" sz="1100" b="0" dirty="0">
                <a:latin typeface="Times New Roman" panose="02020603050405020304" pitchFamily="18" charset="0"/>
                <a:cs typeface="Times New Roman" panose="02020603050405020304" pitchFamily="18" charset="0"/>
              </a:rPr>
              <a:t>Promote cashless campaigns at branches for operational cost reduction.</a:t>
            </a:r>
          </a:p>
        </p:txBody>
      </p:sp>
    </p:spTree>
    <p:extLst>
      <p:ext uri="{BB962C8B-B14F-4D97-AF65-F5344CB8AC3E}">
        <p14:creationId xmlns:p14="http://schemas.microsoft.com/office/powerpoint/2010/main" val="2024129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3A251-E5A3-4A83-8BA7-3DC37D8B6A1D}"/>
              </a:ext>
            </a:extLst>
          </p:cNvPr>
          <p:cNvSpPr>
            <a:spLocks noGrp="1"/>
          </p:cNvSpPr>
          <p:nvPr>
            <p:ph type="title"/>
          </p:nvPr>
        </p:nvSpPr>
        <p:spPr>
          <a:xfrm>
            <a:off x="720000" y="445025"/>
            <a:ext cx="7704000" cy="3762494"/>
          </a:xfrm>
        </p:spPr>
        <p:txBody>
          <a:bodyPr/>
          <a:lstStyle/>
          <a:p>
            <a:r>
              <a:rPr lang="en-GB" dirty="0">
                <a:latin typeface="Times New Roman" panose="02020603050405020304" pitchFamily="18" charset="0"/>
                <a:cs typeface="Times New Roman" panose="02020603050405020304" pitchFamily="18" charset="0"/>
              </a:rPr>
              <a:t>Loan Analytics Data</a:t>
            </a:r>
            <a:br>
              <a:rPr lang="en-GB" dirty="0"/>
            </a:br>
            <a:br>
              <a:rPr lang="en-GB" dirty="0"/>
            </a:br>
            <a:r>
              <a:rPr lang="en-GB" sz="1200" dirty="0">
                <a:latin typeface="Times New Roman" panose="02020603050405020304" pitchFamily="18" charset="0"/>
                <a:cs typeface="Times New Roman" panose="02020603050405020304" pitchFamily="18" charset="0"/>
              </a:rPr>
              <a:t>Our dashboard highlights five major risks: </a:t>
            </a:r>
            <a:br>
              <a:rPr lang="en-GB" sz="1200" dirty="0">
                <a:latin typeface="Times New Roman" panose="02020603050405020304" pitchFamily="18" charset="0"/>
                <a:cs typeface="Times New Roman" panose="02020603050405020304" pitchFamily="18" charset="0"/>
              </a:rPr>
            </a:br>
            <a:r>
              <a:rPr lang="en-GB" sz="1200" dirty="0">
                <a:latin typeface="Times New Roman" panose="02020603050405020304" pitchFamily="18" charset="0"/>
                <a:cs typeface="Times New Roman" panose="02020603050405020304" pitchFamily="18" charset="0"/>
              </a:rPr>
              <a:t>    </a:t>
            </a:r>
            <a:r>
              <a:rPr lang="en-GB" sz="1400" b="0" dirty="0">
                <a:latin typeface="Times New Roman" panose="02020603050405020304" pitchFamily="18" charset="0"/>
                <a:cs typeface="Times New Roman" panose="02020603050405020304" pitchFamily="18" charset="0"/>
              </a:rPr>
              <a:t>Product concentration</a:t>
            </a:r>
            <a:br>
              <a:rPr lang="en-GB" sz="1400" b="0" dirty="0">
                <a:latin typeface="Times New Roman" panose="02020603050405020304" pitchFamily="18" charset="0"/>
                <a:cs typeface="Times New Roman" panose="02020603050405020304" pitchFamily="18" charset="0"/>
              </a:rPr>
            </a:br>
            <a:r>
              <a:rPr lang="en-GB" sz="1400" b="0" dirty="0">
                <a:latin typeface="Times New Roman" panose="02020603050405020304" pitchFamily="18" charset="0"/>
                <a:cs typeface="Times New Roman" panose="02020603050405020304" pitchFamily="18" charset="0"/>
              </a:rPr>
              <a:t>   Geographic imbalance </a:t>
            </a:r>
            <a:br>
              <a:rPr lang="en-GB" sz="1400" b="0" dirty="0">
                <a:latin typeface="Times New Roman" panose="02020603050405020304" pitchFamily="18" charset="0"/>
                <a:cs typeface="Times New Roman" panose="02020603050405020304" pitchFamily="18" charset="0"/>
              </a:rPr>
            </a:br>
            <a:r>
              <a:rPr lang="en-GB" sz="1400" b="0" dirty="0">
                <a:latin typeface="Times New Roman" panose="02020603050405020304" pitchFamily="18" charset="0"/>
                <a:cs typeface="Times New Roman" panose="02020603050405020304" pitchFamily="18" charset="0"/>
              </a:rPr>
              <a:t>   Borrower quality skew</a:t>
            </a:r>
            <a:br>
              <a:rPr lang="en-GB" sz="1400" b="0" dirty="0">
                <a:latin typeface="Times New Roman" panose="02020603050405020304" pitchFamily="18" charset="0"/>
                <a:cs typeface="Times New Roman" panose="02020603050405020304" pitchFamily="18" charset="0"/>
              </a:rPr>
            </a:br>
            <a:r>
              <a:rPr lang="en-GB" sz="1400" b="0" dirty="0">
                <a:latin typeface="Times New Roman" panose="02020603050405020304" pitchFamily="18" charset="0"/>
                <a:cs typeface="Times New Roman" panose="02020603050405020304" pitchFamily="18" charset="0"/>
              </a:rPr>
              <a:t>   Customer segment underrepresentation</a:t>
            </a:r>
            <a:br>
              <a:rPr lang="en-GB" sz="1400" b="0" dirty="0">
                <a:latin typeface="Times New Roman" panose="02020603050405020304" pitchFamily="18" charset="0"/>
                <a:cs typeface="Times New Roman" panose="02020603050405020304" pitchFamily="18" charset="0"/>
              </a:rPr>
            </a:br>
            <a:r>
              <a:rPr lang="en-GB" sz="1400" b="0" dirty="0">
                <a:latin typeface="Times New Roman" panose="02020603050405020304" pitchFamily="18" charset="0"/>
                <a:cs typeface="Times New Roman" panose="02020603050405020304" pitchFamily="18" charset="0"/>
              </a:rPr>
              <a:t>   Seasonal maturity peaks.</a:t>
            </a:r>
            <a:br>
              <a:rPr lang="en-GB" sz="1400" b="0" dirty="0">
                <a:latin typeface="Times New Roman" panose="02020603050405020304" pitchFamily="18" charset="0"/>
                <a:cs typeface="Times New Roman" panose="02020603050405020304" pitchFamily="18" charset="0"/>
              </a:rPr>
            </a:br>
            <a:br>
              <a:rPr lang="en-GB" sz="1200" dirty="0">
                <a:latin typeface="Times New Roman" panose="02020603050405020304" pitchFamily="18" charset="0"/>
                <a:cs typeface="Times New Roman" panose="02020603050405020304" pitchFamily="18" charset="0"/>
              </a:rPr>
            </a:br>
            <a:br>
              <a:rPr lang="en-GB" sz="1100" dirty="0">
                <a:latin typeface="Times New Roman" panose="02020603050405020304" pitchFamily="18" charset="0"/>
                <a:cs typeface="Times New Roman" panose="02020603050405020304" pitchFamily="18" charset="0"/>
              </a:rPr>
            </a:br>
            <a:r>
              <a:rPr lang="en-GB" sz="1600" b="0" dirty="0">
                <a:latin typeface="Times New Roman" panose="02020603050405020304" pitchFamily="18" charset="0"/>
                <a:cs typeface="Times New Roman" panose="02020603050405020304" pitchFamily="18" charset="0"/>
              </a:rPr>
              <a:t>Through targeted product diversification, geographic expansion, credit policy strengthening, loan calendar optimization, and data-driven segmentation, the bank can significantly enhance profitability, reduce risk, and build a more inclusive, balanced, and scalable loan portfolio.”</a:t>
            </a:r>
            <a:endParaRPr lang="en-IN" sz="11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8718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64;p32">
            <a:extLst>
              <a:ext uri="{FF2B5EF4-FFF2-40B4-BE49-F238E27FC236}">
                <a16:creationId xmlns:a16="http://schemas.microsoft.com/office/drawing/2014/main" id="{6974AF64-144E-486D-B30D-51165E8B35E5}"/>
              </a:ext>
            </a:extLst>
          </p:cNvPr>
          <p:cNvSpPr txBox="1">
            <a:spLocks/>
          </p:cNvSpPr>
          <p:nvPr/>
        </p:nvSpPr>
        <p:spPr>
          <a:xfrm>
            <a:off x="454003" y="127888"/>
            <a:ext cx="7358362" cy="6010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1pPr>
            <a:lvl2pPr marR="0" lvl="1"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2pPr>
            <a:lvl3pPr marR="0" lvl="2"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3pPr>
            <a:lvl4pPr marR="0" lvl="3"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4pPr>
            <a:lvl5pPr marR="0" lvl="4"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5pPr>
            <a:lvl6pPr marR="0" lvl="5"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6pPr>
            <a:lvl7pPr marR="0" lvl="6"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7pPr>
            <a:lvl8pPr marR="0" lvl="7"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8pPr>
            <a:lvl9pPr marR="0" lvl="8"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9pPr>
          </a:lstStyle>
          <a:p>
            <a:r>
              <a:rPr lang="en-IN" sz="3200" dirty="0">
                <a:latin typeface="Times New Roman" panose="02020603050405020304" pitchFamily="18" charset="0"/>
                <a:cs typeface="Times New Roman" panose="02020603050405020304" pitchFamily="18" charset="0"/>
              </a:rPr>
              <a:t>Challenges Faced During Cleaning</a:t>
            </a:r>
            <a:endParaRPr lang="en-US" sz="3200" dirty="0">
              <a:latin typeface="Times New Roman" panose="02020603050405020304" pitchFamily="18" charset="0"/>
              <a:cs typeface="Times New Roman" panose="02020603050405020304" pitchFamily="18" charset="0"/>
            </a:endParaRPr>
          </a:p>
        </p:txBody>
      </p:sp>
      <p:sp>
        <p:nvSpPr>
          <p:cNvPr id="4" name="Google Shape;173;p33">
            <a:extLst>
              <a:ext uri="{FF2B5EF4-FFF2-40B4-BE49-F238E27FC236}">
                <a16:creationId xmlns:a16="http://schemas.microsoft.com/office/drawing/2014/main" id="{88FA67D1-9A90-4517-951D-523F2AF11B42}"/>
              </a:ext>
            </a:extLst>
          </p:cNvPr>
          <p:cNvSpPr txBox="1">
            <a:spLocks/>
          </p:cNvSpPr>
          <p:nvPr/>
        </p:nvSpPr>
        <p:spPr>
          <a:xfrm>
            <a:off x="510896" y="626652"/>
            <a:ext cx="8018489" cy="162418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5" name="Google Shape;164;p32">
            <a:extLst>
              <a:ext uri="{FF2B5EF4-FFF2-40B4-BE49-F238E27FC236}">
                <a16:creationId xmlns:a16="http://schemas.microsoft.com/office/drawing/2014/main" id="{01C8EF58-CEEE-4F7C-B02B-E2B5F8A3F697}"/>
              </a:ext>
            </a:extLst>
          </p:cNvPr>
          <p:cNvSpPr txBox="1">
            <a:spLocks/>
          </p:cNvSpPr>
          <p:nvPr/>
        </p:nvSpPr>
        <p:spPr>
          <a:xfrm>
            <a:off x="454003" y="2148521"/>
            <a:ext cx="7358362" cy="6010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3600"/>
              <a:buFont typeface="Syne"/>
              <a:buNone/>
              <a:defRPr sz="5000" b="0" i="0" u="none" strike="noStrike" cap="none">
                <a:solidFill>
                  <a:schemeClr val="dk1"/>
                </a:solidFill>
                <a:latin typeface="Syne SemiBold"/>
                <a:ea typeface="Syne SemiBold"/>
                <a:cs typeface="Syne SemiBold"/>
                <a:sym typeface="Syne SemiBold"/>
              </a:defRPr>
            </a:lvl1pPr>
            <a:lvl2pPr marR="0" lvl="1"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2pPr>
            <a:lvl3pPr marR="0" lvl="2"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3pPr>
            <a:lvl4pPr marR="0" lvl="3"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4pPr>
            <a:lvl5pPr marR="0" lvl="4"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5pPr>
            <a:lvl6pPr marR="0" lvl="5"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6pPr>
            <a:lvl7pPr marR="0" lvl="6"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7pPr>
            <a:lvl8pPr marR="0" lvl="7"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8pPr>
            <a:lvl9pPr marR="0" lvl="8"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9pPr>
          </a:lstStyle>
          <a:p>
            <a:pPr algn="l"/>
            <a:r>
              <a:rPr lang="en-US" sz="2800" dirty="0">
                <a:latin typeface="Times New Roman" panose="02020603050405020304" pitchFamily="18" charset="0"/>
                <a:cs typeface="Times New Roman" panose="02020603050405020304" pitchFamily="18" charset="0"/>
              </a:rPr>
              <a:t>How the Data Was Cleaned and Handled</a:t>
            </a:r>
          </a:p>
        </p:txBody>
      </p:sp>
      <p:sp>
        <p:nvSpPr>
          <p:cNvPr id="6" name="Google Shape;173;p33">
            <a:extLst>
              <a:ext uri="{FF2B5EF4-FFF2-40B4-BE49-F238E27FC236}">
                <a16:creationId xmlns:a16="http://schemas.microsoft.com/office/drawing/2014/main" id="{22AD1CA7-1700-48EC-BCBC-0B3E601BD87B}"/>
              </a:ext>
            </a:extLst>
          </p:cNvPr>
          <p:cNvSpPr txBox="1">
            <a:spLocks/>
          </p:cNvSpPr>
          <p:nvPr/>
        </p:nvSpPr>
        <p:spPr>
          <a:xfrm>
            <a:off x="454003" y="2634499"/>
            <a:ext cx="8076133" cy="2349143"/>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38150" indent="-285750">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Filled Blank and Empty with Pre &amp; post date values.</a:t>
            </a:r>
          </a:p>
          <a:p>
            <a:pPr marL="438150" indent="-285750">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Null replaced with the statistical values in required cases.</a:t>
            </a:r>
          </a:p>
          <a:p>
            <a:pPr marL="438150" indent="-285750">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Standardized age from age group and deleted columns which were not useful .</a:t>
            </a:r>
          </a:p>
          <a:p>
            <a:pPr marL="438150" indent="-285750">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Changed values in verification status and loan status for accurate classification.</a:t>
            </a:r>
          </a:p>
          <a:p>
            <a:pPr marL="438150" indent="-285750">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Cleaned numeric fields by removing invalid values and replaced null, blank &amp; empty with statistical values.</a:t>
            </a:r>
          </a:p>
          <a:p>
            <a:pPr marL="438150" indent="-285750">
              <a:buFont typeface="Arial" panose="020B0604020202020204" pitchFamily="34" charset="0"/>
              <a:buChar char="•"/>
            </a:pPr>
            <a:r>
              <a:rPr lang="en-US" sz="1600" dirty="0">
                <a:solidFill>
                  <a:schemeClr val="tx1"/>
                </a:solidFill>
                <a:latin typeface="Times New Roman" panose="02020603050405020304" pitchFamily="18" charset="0"/>
                <a:cs typeface="Times New Roman" panose="02020603050405020304" pitchFamily="18" charset="0"/>
              </a:rPr>
              <a:t>Replaced values in State Name column by merging it with region column. Then replaced values with correct names and demerged it.</a:t>
            </a:r>
          </a:p>
        </p:txBody>
      </p:sp>
      <p:sp>
        <p:nvSpPr>
          <p:cNvPr id="8" name="Rectangle 2">
            <a:extLst>
              <a:ext uri="{FF2B5EF4-FFF2-40B4-BE49-F238E27FC236}">
                <a16:creationId xmlns:a16="http://schemas.microsoft.com/office/drawing/2014/main" id="{567D6E6C-EC10-414B-90FF-11BDE82ED62F}"/>
              </a:ext>
            </a:extLst>
          </p:cNvPr>
          <p:cNvSpPr>
            <a:spLocks noChangeArrowheads="1"/>
          </p:cNvSpPr>
          <p:nvPr/>
        </p:nvSpPr>
        <p:spPr bwMode="auto">
          <a:xfrm>
            <a:off x="510896" y="728963"/>
            <a:ext cx="770648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 imported the data into Excel &amp; Power Query.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Cleaned missing values, standardized dates, formatted numeric fields, fixed inconsistent state names, and removed duplicates.</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 created calculated fields like </a:t>
            </a:r>
            <a:r>
              <a:rPr kumimoji="0" lang="en-US" altLang="en-US" sz="16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Loan Maturity Duration, Total Interest, Total Revenue, Grade band,</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etc.</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 cleaned dataset was then loaded into Tableau for modelling and visualization.”</a:t>
            </a:r>
          </a:p>
        </p:txBody>
      </p:sp>
    </p:spTree>
    <p:extLst>
      <p:ext uri="{BB962C8B-B14F-4D97-AF65-F5344CB8AC3E}">
        <p14:creationId xmlns:p14="http://schemas.microsoft.com/office/powerpoint/2010/main" val="2879388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FD29C-FA17-4E36-A801-BCFD6FC22F63}"/>
              </a:ext>
            </a:extLst>
          </p:cNvPr>
          <p:cNvSpPr>
            <a:spLocks noGrp="1"/>
          </p:cNvSpPr>
          <p:nvPr>
            <p:ph type="title"/>
          </p:nvPr>
        </p:nvSpPr>
        <p:spPr>
          <a:xfrm>
            <a:off x="720000" y="175446"/>
            <a:ext cx="7704000" cy="572700"/>
          </a:xfrm>
        </p:spPr>
        <p:txBody>
          <a:bodyPr/>
          <a:lstStyle/>
          <a:p>
            <a:r>
              <a:rPr lang="en-GB" dirty="0"/>
              <a:t>Key Insights with Recommendations</a:t>
            </a:r>
            <a:endParaRPr lang="en-IN" dirty="0"/>
          </a:p>
        </p:txBody>
      </p:sp>
      <p:sp>
        <p:nvSpPr>
          <p:cNvPr id="3" name="Title 1">
            <a:extLst>
              <a:ext uri="{FF2B5EF4-FFF2-40B4-BE49-F238E27FC236}">
                <a16:creationId xmlns:a16="http://schemas.microsoft.com/office/drawing/2014/main" id="{1AEC7E1C-B9D6-41F0-9275-D048A7329E78}"/>
              </a:ext>
            </a:extLst>
          </p:cNvPr>
          <p:cNvSpPr txBox="1">
            <a:spLocks/>
          </p:cNvSpPr>
          <p:nvPr/>
        </p:nvSpPr>
        <p:spPr>
          <a:xfrm>
            <a:off x="242987" y="873474"/>
            <a:ext cx="4201125" cy="40945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1pPr>
            <a:lvl2pPr marR="0" lvl="1"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2pPr>
            <a:lvl3pPr marR="0" lvl="2"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3pPr>
            <a:lvl4pPr marR="0" lvl="3"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4pPr>
            <a:lvl5pPr marR="0" lvl="4"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5pPr>
            <a:lvl6pPr marR="0" lvl="5"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6pPr>
            <a:lvl7pPr marR="0" lvl="6"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7pPr>
            <a:lvl8pPr marR="0" lvl="7"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8pPr>
            <a:lvl9pPr marR="0" lvl="8"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9pPr>
          </a:lstStyle>
          <a:p>
            <a:r>
              <a:rPr lang="en-GB" sz="1100" b="1" dirty="0">
                <a:latin typeface="Times New Roman" panose="02020603050405020304" pitchFamily="18" charset="0"/>
                <a:cs typeface="Times New Roman" panose="02020603050405020304" pitchFamily="18" charset="0"/>
              </a:rPr>
              <a:t>Home Loans Dominate the Loan Portfolio</a:t>
            </a:r>
          </a:p>
          <a:p>
            <a:endParaRPr lang="en-GB" sz="1100" b="1" dirty="0">
              <a:latin typeface="Times New Roman" panose="02020603050405020304" pitchFamily="18" charset="0"/>
              <a:cs typeface="Times New Roman" panose="02020603050405020304" pitchFamily="18" charset="0"/>
            </a:endParaRPr>
          </a:p>
          <a:p>
            <a:r>
              <a:rPr lang="en-GB" sz="1100" b="0" dirty="0">
                <a:latin typeface="Times New Roman" panose="02020603050405020304" pitchFamily="18" charset="0"/>
                <a:cs typeface="Times New Roman" panose="02020603050405020304" pitchFamily="18" charset="0"/>
              </a:rPr>
              <a:t>Home Loans contribute the highest funded amount (~19.9M), far above other loan types.</a:t>
            </a:r>
          </a:p>
          <a:p>
            <a:endParaRPr lang="en-GB" sz="1100" b="0" dirty="0">
              <a:latin typeface="Times New Roman" panose="02020603050405020304" pitchFamily="18" charset="0"/>
              <a:cs typeface="Times New Roman" panose="02020603050405020304" pitchFamily="18" charset="0"/>
            </a:endParaRPr>
          </a:p>
          <a:p>
            <a:r>
              <a:rPr lang="en-GB" sz="1100" dirty="0">
                <a:latin typeface="Times New Roman" panose="02020603050405020304" pitchFamily="18" charset="0"/>
                <a:cs typeface="Times New Roman" panose="02020603050405020304" pitchFamily="18" charset="0"/>
              </a:rPr>
              <a:t>Problem</a:t>
            </a:r>
          </a:p>
          <a:p>
            <a:r>
              <a:rPr lang="en-GB" sz="1100" b="0" dirty="0">
                <a:latin typeface="Times New Roman" panose="02020603050405020304" pitchFamily="18" charset="0"/>
                <a:cs typeface="Times New Roman" panose="02020603050405020304" pitchFamily="18" charset="0"/>
              </a:rPr>
              <a:t>High dependency on a single loan product increases portfolio concentration risk.</a:t>
            </a:r>
          </a:p>
          <a:p>
            <a:r>
              <a:rPr lang="en-GB" sz="1100" b="0" dirty="0">
                <a:latin typeface="Times New Roman" panose="02020603050405020304" pitchFamily="18" charset="0"/>
                <a:cs typeface="Times New Roman" panose="02020603050405020304" pitchFamily="18" charset="0"/>
              </a:rPr>
              <a:t>Low-performing categories (festival loans, medical loans, etc.) show poor growth.</a:t>
            </a:r>
          </a:p>
          <a:p>
            <a:endParaRPr lang="en-GB" sz="1100" b="0" dirty="0">
              <a:latin typeface="Times New Roman" panose="02020603050405020304" pitchFamily="18" charset="0"/>
              <a:cs typeface="Times New Roman" panose="02020603050405020304" pitchFamily="18" charset="0"/>
            </a:endParaRPr>
          </a:p>
          <a:p>
            <a:r>
              <a:rPr lang="en-GB" sz="1100" dirty="0">
                <a:latin typeface="Times New Roman" panose="02020603050405020304" pitchFamily="18" charset="0"/>
                <a:cs typeface="Times New Roman" panose="02020603050405020304" pitchFamily="18" charset="0"/>
              </a:rPr>
              <a:t>Solution</a:t>
            </a:r>
          </a:p>
          <a:p>
            <a:r>
              <a:rPr lang="en-GB" sz="1100" b="0" dirty="0">
                <a:latin typeface="Times New Roman" panose="02020603050405020304" pitchFamily="18" charset="0"/>
                <a:cs typeface="Times New Roman" panose="02020603050405020304" pitchFamily="18" charset="0"/>
              </a:rPr>
              <a:t>Analyse profitability, NPA risk, and customer segments for each loan category.</a:t>
            </a:r>
          </a:p>
          <a:p>
            <a:r>
              <a:rPr lang="en-GB" sz="1100" b="0" dirty="0">
                <a:latin typeface="Times New Roman" panose="02020603050405020304" pitchFamily="18" charset="0"/>
                <a:cs typeface="Times New Roman" panose="02020603050405020304" pitchFamily="18" charset="0"/>
              </a:rPr>
              <a:t>Identify which loan types have high demand but low penetration.</a:t>
            </a:r>
          </a:p>
          <a:p>
            <a:endParaRPr lang="en-GB" sz="1100" b="0" dirty="0">
              <a:latin typeface="Times New Roman" panose="02020603050405020304" pitchFamily="18" charset="0"/>
              <a:cs typeface="Times New Roman" panose="02020603050405020304" pitchFamily="18" charset="0"/>
            </a:endParaRPr>
          </a:p>
          <a:p>
            <a:r>
              <a:rPr lang="en-GB" sz="1100" dirty="0">
                <a:latin typeface="Times New Roman" panose="02020603050405020304" pitchFamily="18" charset="0"/>
                <a:cs typeface="Times New Roman" panose="02020603050405020304" pitchFamily="18" charset="0"/>
              </a:rPr>
              <a:t>Recommendation</a:t>
            </a:r>
          </a:p>
          <a:p>
            <a:r>
              <a:rPr lang="en-GB" sz="1100" b="0" dirty="0">
                <a:latin typeface="Times New Roman" panose="02020603050405020304" pitchFamily="18" charset="0"/>
                <a:cs typeface="Times New Roman" panose="02020603050405020304" pitchFamily="18" charset="0"/>
              </a:rPr>
              <a:t>Diversify into Business Loans, Agriculture Loans, Trade Finance, and SME Loans with targeted marketing.</a:t>
            </a:r>
          </a:p>
          <a:p>
            <a:r>
              <a:rPr lang="en-GB" sz="1100" b="0" dirty="0">
                <a:latin typeface="Times New Roman" panose="02020603050405020304" pitchFamily="18" charset="0"/>
                <a:cs typeface="Times New Roman" panose="02020603050405020304" pitchFamily="18" charset="0"/>
              </a:rPr>
              <a:t>Adjust targets/incentives to reduce over-focus on Home Loans.</a:t>
            </a:r>
          </a:p>
          <a:p>
            <a:br>
              <a:rPr lang="en-GB" sz="11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19C470C3-F982-4A77-AE2D-23185ACB8EE4}"/>
              </a:ext>
            </a:extLst>
          </p:cNvPr>
          <p:cNvSpPr txBox="1">
            <a:spLocks/>
          </p:cNvSpPr>
          <p:nvPr/>
        </p:nvSpPr>
        <p:spPr>
          <a:xfrm>
            <a:off x="4572000" y="873474"/>
            <a:ext cx="4469690" cy="400505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chemeClr val="dk1"/>
              </a:buClr>
              <a:buSzPts val="3600"/>
              <a:buFont typeface="Syne"/>
              <a:buNone/>
              <a:defRPr sz="5000" b="0" i="0" u="none" strike="noStrike" cap="none">
                <a:solidFill>
                  <a:schemeClr val="dk1"/>
                </a:solidFill>
                <a:latin typeface="Syne SemiBold"/>
                <a:ea typeface="Syne SemiBold"/>
                <a:cs typeface="Syne SemiBold"/>
                <a:sym typeface="Syne SemiBold"/>
              </a:defRPr>
            </a:lvl1pPr>
            <a:lvl2pPr marR="0" lvl="1"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2pPr>
            <a:lvl3pPr marR="0" lvl="2"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3pPr>
            <a:lvl4pPr marR="0" lvl="3"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4pPr>
            <a:lvl5pPr marR="0" lvl="4"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5pPr>
            <a:lvl6pPr marR="0" lvl="5"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6pPr>
            <a:lvl7pPr marR="0" lvl="6"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7pPr>
            <a:lvl8pPr marR="0" lvl="7"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8pPr>
            <a:lvl9pPr marR="0" lvl="8" algn="ctr" rtl="0">
              <a:lnSpc>
                <a:spcPct val="100000"/>
              </a:lnSpc>
              <a:spcBef>
                <a:spcPts val="0"/>
              </a:spcBef>
              <a:spcAft>
                <a:spcPts val="0"/>
              </a:spcAft>
              <a:buClr>
                <a:schemeClr val="dk1"/>
              </a:buClr>
              <a:buSzPts val="3600"/>
              <a:buFont typeface="Syne"/>
              <a:buNone/>
              <a:defRPr sz="3600" b="1" i="0" u="none" strike="noStrike" cap="none">
                <a:solidFill>
                  <a:schemeClr val="dk1"/>
                </a:solidFill>
                <a:latin typeface="Syne"/>
                <a:ea typeface="Syne"/>
                <a:cs typeface="Syne"/>
                <a:sym typeface="Syne"/>
              </a:defRPr>
            </a:lvl9pPr>
          </a:lstStyle>
          <a:p>
            <a:pPr algn="l"/>
            <a:r>
              <a:rPr lang="en-GB" sz="1100" b="1" dirty="0">
                <a:latin typeface="Times New Roman" panose="02020603050405020304" pitchFamily="18" charset="0"/>
                <a:cs typeface="Times New Roman" panose="02020603050405020304" pitchFamily="18" charset="0"/>
              </a:rPr>
              <a:t>Loan Distribution Highly Concentrated in a Few States</a:t>
            </a:r>
          </a:p>
          <a:p>
            <a:pPr algn="l"/>
            <a:endParaRPr lang="en-GB" sz="1100" b="1" dirty="0">
              <a:latin typeface="Times New Roman" panose="02020603050405020304" pitchFamily="18" charset="0"/>
              <a:cs typeface="Times New Roman" panose="02020603050405020304" pitchFamily="18" charset="0"/>
            </a:endParaRPr>
          </a:p>
          <a:p>
            <a:pPr algn="l"/>
            <a:r>
              <a:rPr lang="en-GB" sz="1100" dirty="0">
                <a:latin typeface="Times New Roman" panose="02020603050405020304" pitchFamily="18" charset="0"/>
                <a:cs typeface="Times New Roman" panose="02020603050405020304" pitchFamily="18" charset="0"/>
              </a:rPr>
              <a:t>States like Rajasthan, Maharashtra, and Gujarat dominate loan disbursements.</a:t>
            </a:r>
          </a:p>
          <a:p>
            <a:pPr algn="l"/>
            <a:endParaRPr lang="en-GB" sz="1100" dirty="0">
              <a:latin typeface="Times New Roman" panose="02020603050405020304" pitchFamily="18" charset="0"/>
              <a:cs typeface="Times New Roman" panose="02020603050405020304" pitchFamily="18" charset="0"/>
            </a:endParaRPr>
          </a:p>
          <a:p>
            <a:pPr algn="l"/>
            <a:r>
              <a:rPr lang="en-GB" sz="1100" b="1" dirty="0">
                <a:latin typeface="Times New Roman" panose="02020603050405020304" pitchFamily="18" charset="0"/>
                <a:cs typeface="Times New Roman" panose="02020603050405020304" pitchFamily="18" charset="0"/>
              </a:rPr>
              <a:t>Problem</a:t>
            </a:r>
          </a:p>
          <a:p>
            <a:pPr algn="l"/>
            <a:r>
              <a:rPr lang="en-GB" sz="1100" dirty="0">
                <a:latin typeface="Times New Roman" panose="02020603050405020304" pitchFamily="18" charset="0"/>
                <a:cs typeface="Times New Roman" panose="02020603050405020304" pitchFamily="18" charset="0"/>
              </a:rPr>
              <a:t>Geographic concentration increases risk if one region faces economic slowdown.</a:t>
            </a:r>
          </a:p>
          <a:p>
            <a:pPr algn="l"/>
            <a:r>
              <a:rPr lang="en-GB" sz="1100" dirty="0">
                <a:latin typeface="Times New Roman" panose="02020603050405020304" pitchFamily="18" charset="0"/>
                <a:cs typeface="Times New Roman" panose="02020603050405020304" pitchFamily="18" charset="0"/>
              </a:rPr>
              <a:t>Large parts of India remain under-penetrated, missing growth opportunities.</a:t>
            </a:r>
          </a:p>
          <a:p>
            <a:pPr algn="l"/>
            <a:endParaRPr lang="en-GB" sz="1100" dirty="0">
              <a:latin typeface="Times New Roman" panose="02020603050405020304" pitchFamily="18" charset="0"/>
              <a:cs typeface="Times New Roman" panose="02020603050405020304" pitchFamily="18" charset="0"/>
            </a:endParaRPr>
          </a:p>
          <a:p>
            <a:pPr algn="l"/>
            <a:r>
              <a:rPr lang="en-GB" sz="1100" b="1" dirty="0">
                <a:latin typeface="Times New Roman" panose="02020603050405020304" pitchFamily="18" charset="0"/>
                <a:cs typeface="Times New Roman" panose="02020603050405020304" pitchFamily="18" charset="0"/>
              </a:rPr>
              <a:t>Solution</a:t>
            </a:r>
          </a:p>
          <a:p>
            <a:pPr algn="l"/>
            <a:r>
              <a:rPr lang="en-GB" sz="1100" dirty="0">
                <a:latin typeface="Times New Roman" panose="02020603050405020304" pitchFamily="18" charset="0"/>
                <a:cs typeface="Times New Roman" panose="02020603050405020304" pitchFamily="18" charset="0"/>
              </a:rPr>
              <a:t>Map branch density, lead inflow, and approval rates across states.</a:t>
            </a:r>
          </a:p>
          <a:p>
            <a:pPr algn="l"/>
            <a:r>
              <a:rPr lang="en-GB" sz="1100" dirty="0">
                <a:latin typeface="Times New Roman" panose="02020603050405020304" pitchFamily="18" charset="0"/>
                <a:cs typeface="Times New Roman" panose="02020603050405020304" pitchFamily="18" charset="0"/>
              </a:rPr>
              <a:t>Identify underserved states with potential for expansion.</a:t>
            </a:r>
          </a:p>
          <a:p>
            <a:pPr algn="l"/>
            <a:endParaRPr lang="en-GB" sz="1100" dirty="0">
              <a:latin typeface="Times New Roman" panose="02020603050405020304" pitchFamily="18" charset="0"/>
              <a:cs typeface="Times New Roman" panose="02020603050405020304" pitchFamily="18" charset="0"/>
            </a:endParaRPr>
          </a:p>
          <a:p>
            <a:pPr algn="l"/>
            <a:r>
              <a:rPr lang="en-GB" sz="1100" b="1" dirty="0">
                <a:latin typeface="Times New Roman" panose="02020603050405020304" pitchFamily="18" charset="0"/>
                <a:cs typeface="Times New Roman" panose="02020603050405020304" pitchFamily="18" charset="0"/>
              </a:rPr>
              <a:t>Recommendation</a:t>
            </a:r>
          </a:p>
          <a:p>
            <a:pPr algn="l"/>
            <a:r>
              <a:rPr lang="en-GB" sz="1100" dirty="0">
                <a:latin typeface="Times New Roman" panose="02020603050405020304" pitchFamily="18" charset="0"/>
                <a:cs typeface="Times New Roman" panose="02020603050405020304" pitchFamily="18" charset="0"/>
              </a:rPr>
              <a:t>Open micro-branches or partnerships in low-loan states.</a:t>
            </a:r>
          </a:p>
          <a:p>
            <a:pPr algn="l"/>
            <a:r>
              <a:rPr lang="en-GB" sz="1100" dirty="0">
                <a:latin typeface="Times New Roman" panose="02020603050405020304" pitchFamily="18" charset="0"/>
                <a:cs typeface="Times New Roman" panose="02020603050405020304" pitchFamily="18" charset="0"/>
              </a:rPr>
              <a:t>Launch localized campaigns (digital + on-ground) to grow presence countrywide.</a:t>
            </a:r>
          </a:p>
          <a:p>
            <a:pPr algn="l"/>
            <a:br>
              <a:rPr lang="en-GB" sz="11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22457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675DE35-E5F0-4E2C-A6EB-03FDAC2BA66F}"/>
              </a:ext>
            </a:extLst>
          </p:cNvPr>
          <p:cNvSpPr>
            <a:spLocks noGrp="1"/>
          </p:cNvSpPr>
          <p:nvPr>
            <p:ph type="title"/>
          </p:nvPr>
        </p:nvSpPr>
        <p:spPr>
          <a:xfrm>
            <a:off x="202053" y="367585"/>
            <a:ext cx="2643457" cy="4408329"/>
          </a:xfrm>
        </p:spPr>
        <p:txBody>
          <a:bodyPr/>
          <a:lstStyle/>
          <a:p>
            <a:r>
              <a:rPr lang="en-GB" sz="1100" b="1" dirty="0">
                <a:latin typeface="Times New Roman" panose="02020603050405020304" pitchFamily="18" charset="0"/>
                <a:cs typeface="Times New Roman" panose="02020603050405020304" pitchFamily="18" charset="0"/>
              </a:rPr>
              <a:t>Religious Segmentation Is Skewed (Hindu Customers = 75%+)</a:t>
            </a:r>
            <a:br>
              <a:rPr lang="en-GB" sz="1100" b="1" dirty="0">
                <a:latin typeface="Times New Roman" panose="02020603050405020304" pitchFamily="18" charset="0"/>
                <a:cs typeface="Times New Roman" panose="02020603050405020304" pitchFamily="18" charset="0"/>
              </a:rPr>
            </a:b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The borrower base is not evenly distributed across religious segments.</a:t>
            </a:r>
            <a:br>
              <a:rPr lang="en-GB" sz="1100" b="0" dirty="0">
                <a:latin typeface="Times New Roman" panose="02020603050405020304" pitchFamily="18" charset="0"/>
                <a:cs typeface="Times New Roman" panose="02020603050405020304" pitchFamily="18" charset="0"/>
              </a:rPr>
            </a:br>
            <a:br>
              <a:rPr lang="en-GB" sz="1100" b="0" dirty="0">
                <a:latin typeface="Times New Roman" panose="02020603050405020304" pitchFamily="18" charset="0"/>
                <a:cs typeface="Times New Roman" panose="02020603050405020304" pitchFamily="18" charset="0"/>
              </a:rPr>
            </a:br>
            <a:r>
              <a:rPr lang="en-GB" sz="1100" dirty="0">
                <a:latin typeface="Times New Roman" panose="02020603050405020304" pitchFamily="18" charset="0"/>
                <a:cs typeface="Times New Roman" panose="02020603050405020304" pitchFamily="18" charset="0"/>
              </a:rPr>
              <a:t>Problem</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Bank is missing opportunities to capture a broader customer base.</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Indicates lack of inclusive marketing and outreach.</a:t>
            </a:r>
            <a:br>
              <a:rPr lang="en-GB" sz="1100" b="0" dirty="0">
                <a:latin typeface="Times New Roman" panose="02020603050405020304" pitchFamily="18" charset="0"/>
                <a:cs typeface="Times New Roman" panose="02020603050405020304" pitchFamily="18" charset="0"/>
              </a:rPr>
            </a:br>
            <a:br>
              <a:rPr lang="en-GB" sz="1100" b="0" dirty="0">
                <a:latin typeface="Times New Roman" panose="02020603050405020304" pitchFamily="18" charset="0"/>
                <a:cs typeface="Times New Roman" panose="02020603050405020304" pitchFamily="18" charset="0"/>
              </a:rPr>
            </a:br>
            <a:r>
              <a:rPr lang="en-GB" sz="1100" dirty="0">
                <a:latin typeface="Times New Roman" panose="02020603050405020304" pitchFamily="18" charset="0"/>
                <a:cs typeface="Times New Roman" panose="02020603050405020304" pitchFamily="18" charset="0"/>
              </a:rPr>
              <a:t>Solution</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Analyse customer acquisition funnels by religion, region, income group.</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Identify barriers preventing minority groups from applying.</a:t>
            </a:r>
            <a:br>
              <a:rPr lang="en-GB" sz="1100" b="0" dirty="0">
                <a:latin typeface="Times New Roman" panose="02020603050405020304" pitchFamily="18" charset="0"/>
                <a:cs typeface="Times New Roman" panose="02020603050405020304" pitchFamily="18" charset="0"/>
              </a:rPr>
            </a:br>
            <a:br>
              <a:rPr lang="en-GB" sz="1100" b="0" dirty="0">
                <a:latin typeface="Times New Roman" panose="02020603050405020304" pitchFamily="18" charset="0"/>
                <a:cs typeface="Times New Roman" panose="02020603050405020304" pitchFamily="18" charset="0"/>
              </a:rPr>
            </a:br>
            <a:r>
              <a:rPr lang="en-GB" sz="1100" dirty="0">
                <a:latin typeface="Times New Roman" panose="02020603050405020304" pitchFamily="18" charset="0"/>
                <a:cs typeface="Times New Roman" panose="02020603050405020304" pitchFamily="18" charset="0"/>
              </a:rPr>
              <a:t>Recommendation</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Create inclusive loan products and campaigns targeted at underserved segments.</a:t>
            </a:r>
            <a:br>
              <a:rPr lang="en-GB" sz="1100" b="0" dirty="0">
                <a:latin typeface="Times New Roman" panose="02020603050405020304" pitchFamily="18" charset="0"/>
                <a:cs typeface="Times New Roman" panose="02020603050405020304" pitchFamily="18" charset="0"/>
              </a:rPr>
            </a:br>
            <a:r>
              <a:rPr lang="en-GB" sz="1100" b="0" dirty="0">
                <a:latin typeface="Times New Roman" panose="02020603050405020304" pitchFamily="18" charset="0"/>
                <a:cs typeface="Times New Roman" panose="02020603050405020304" pitchFamily="18" charset="0"/>
              </a:rPr>
              <a:t>Partner with community groups/NGOs to improve trust and reach.</a:t>
            </a:r>
            <a:br>
              <a:rPr lang="en-GB" sz="900" b="0" dirty="0"/>
            </a:br>
            <a:br>
              <a:rPr lang="en-GB" sz="1100" dirty="0">
                <a:latin typeface="Times New Roman" panose="02020603050405020304" pitchFamily="18" charset="0"/>
                <a:cs typeface="Times New Roman" panose="02020603050405020304" pitchFamily="18" charset="0"/>
              </a:rPr>
            </a:br>
            <a:endParaRPr lang="en-IN" sz="11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EDE54214-E26F-419E-BF10-0D3E800EE4F4}"/>
              </a:ext>
            </a:extLst>
          </p:cNvPr>
          <p:cNvSpPr txBox="1">
            <a:spLocks/>
          </p:cNvSpPr>
          <p:nvPr/>
        </p:nvSpPr>
        <p:spPr>
          <a:xfrm>
            <a:off x="3075710" y="367584"/>
            <a:ext cx="2772410" cy="44083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1pPr>
            <a:lvl2pPr marR="0" lvl="1"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2pPr>
            <a:lvl3pPr marR="0" lvl="2"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3pPr>
            <a:lvl4pPr marR="0" lvl="3"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4pPr>
            <a:lvl5pPr marR="0" lvl="4"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5pPr>
            <a:lvl6pPr marR="0" lvl="5"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6pPr>
            <a:lvl7pPr marR="0" lvl="6"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7pPr>
            <a:lvl8pPr marR="0" lvl="7"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8pPr>
            <a:lvl9pPr marR="0" lvl="8"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9pPr>
          </a:lstStyle>
          <a:p>
            <a:r>
              <a:rPr lang="en-GB" sz="1100" b="1" dirty="0">
                <a:latin typeface="Times New Roman" panose="02020603050405020304" pitchFamily="18" charset="0"/>
                <a:cs typeface="Times New Roman" panose="02020603050405020304" pitchFamily="18" charset="0"/>
              </a:rPr>
              <a:t>Mid-Grade Borrowers (Grade B &amp; C) Form Majority of Portfolio</a:t>
            </a:r>
          </a:p>
          <a:p>
            <a:endParaRPr lang="en-GB" sz="1100" b="0" dirty="0">
              <a:latin typeface="Times New Roman" panose="02020603050405020304" pitchFamily="18" charset="0"/>
              <a:cs typeface="Times New Roman" panose="02020603050405020304" pitchFamily="18" charset="0"/>
            </a:endParaRPr>
          </a:p>
          <a:p>
            <a:r>
              <a:rPr lang="en-GB" sz="1100" b="0" dirty="0">
                <a:latin typeface="Times New Roman" panose="02020603050405020304" pitchFamily="18" charset="0"/>
                <a:cs typeface="Times New Roman" panose="02020603050405020304" pitchFamily="18" charset="0"/>
              </a:rPr>
              <a:t>Grades B &amp; C occupy most of the loan volume.</a:t>
            </a:r>
          </a:p>
          <a:p>
            <a:endParaRPr lang="en-GB" sz="1100" b="0" dirty="0">
              <a:latin typeface="Times New Roman" panose="02020603050405020304" pitchFamily="18" charset="0"/>
              <a:cs typeface="Times New Roman" panose="02020603050405020304" pitchFamily="18" charset="0"/>
            </a:endParaRPr>
          </a:p>
          <a:p>
            <a:r>
              <a:rPr lang="en-GB" sz="1100" dirty="0">
                <a:latin typeface="Times New Roman" panose="02020603050405020304" pitchFamily="18" charset="0"/>
                <a:cs typeface="Times New Roman" panose="02020603050405020304" pitchFamily="18" charset="0"/>
              </a:rPr>
              <a:t>Problem</a:t>
            </a:r>
          </a:p>
          <a:p>
            <a:r>
              <a:rPr lang="en-GB" sz="1100" b="0" dirty="0">
                <a:latin typeface="Times New Roman" panose="02020603050405020304" pitchFamily="18" charset="0"/>
                <a:cs typeface="Times New Roman" panose="02020603050405020304" pitchFamily="18" charset="0"/>
              </a:rPr>
              <a:t>Higher credit risk and potential NPAs due to mid-grade concentration.</a:t>
            </a:r>
          </a:p>
          <a:p>
            <a:r>
              <a:rPr lang="en-GB" sz="1100" b="0" dirty="0">
                <a:latin typeface="Times New Roman" panose="02020603050405020304" pitchFamily="18" charset="0"/>
                <a:cs typeface="Times New Roman" panose="02020603050405020304" pitchFamily="18" charset="0"/>
              </a:rPr>
              <a:t>Lack of strong verification methods increases the chances of default.</a:t>
            </a:r>
          </a:p>
          <a:p>
            <a:endParaRPr lang="en-GB" sz="1100" b="0" dirty="0">
              <a:latin typeface="Times New Roman" panose="02020603050405020304" pitchFamily="18" charset="0"/>
              <a:cs typeface="Times New Roman" panose="02020603050405020304" pitchFamily="18" charset="0"/>
            </a:endParaRPr>
          </a:p>
          <a:p>
            <a:r>
              <a:rPr lang="en-GB" sz="1100" dirty="0">
                <a:latin typeface="Times New Roman" panose="02020603050405020304" pitchFamily="18" charset="0"/>
                <a:cs typeface="Times New Roman" panose="02020603050405020304" pitchFamily="18" charset="0"/>
              </a:rPr>
              <a:t>Solution</a:t>
            </a:r>
          </a:p>
          <a:p>
            <a:r>
              <a:rPr lang="en-GB" sz="1100" b="0" dirty="0">
                <a:latin typeface="Times New Roman" panose="02020603050405020304" pitchFamily="18" charset="0"/>
                <a:cs typeface="Times New Roman" panose="02020603050405020304" pitchFamily="18" charset="0"/>
              </a:rPr>
              <a:t>Strengthen credit scoring and KYC verification.</a:t>
            </a:r>
          </a:p>
          <a:p>
            <a:r>
              <a:rPr lang="en-GB" sz="1100" b="0" dirty="0">
                <a:latin typeface="Times New Roman" panose="02020603050405020304" pitchFamily="18" charset="0"/>
                <a:cs typeface="Times New Roman" panose="02020603050405020304" pitchFamily="18" charset="0"/>
              </a:rPr>
              <a:t>Introduce risk-based pricing (higher interest rate for lower grades).</a:t>
            </a:r>
          </a:p>
          <a:p>
            <a:endParaRPr lang="en-GB" sz="1100" b="0" dirty="0">
              <a:latin typeface="Times New Roman" panose="02020603050405020304" pitchFamily="18" charset="0"/>
              <a:cs typeface="Times New Roman" panose="02020603050405020304" pitchFamily="18" charset="0"/>
            </a:endParaRPr>
          </a:p>
          <a:p>
            <a:r>
              <a:rPr lang="en-GB" sz="1100" dirty="0">
                <a:latin typeface="Times New Roman" panose="02020603050405020304" pitchFamily="18" charset="0"/>
                <a:cs typeface="Times New Roman" panose="02020603050405020304" pitchFamily="18" charset="0"/>
              </a:rPr>
              <a:t>Recommendation</a:t>
            </a:r>
          </a:p>
          <a:p>
            <a:r>
              <a:rPr lang="en-GB" sz="1100" b="0" dirty="0">
                <a:latin typeface="Times New Roman" panose="02020603050405020304" pitchFamily="18" charset="0"/>
                <a:cs typeface="Times New Roman" panose="02020603050405020304" pitchFamily="18" charset="0"/>
              </a:rPr>
              <a:t>Shift portfolio quality by promoting Grade A loans through special offers.</a:t>
            </a:r>
          </a:p>
          <a:p>
            <a:r>
              <a:rPr lang="en-GB" sz="1100" b="0" dirty="0">
                <a:latin typeface="Times New Roman" panose="02020603050405020304" pitchFamily="18" charset="0"/>
                <a:cs typeface="Times New Roman" panose="02020603050405020304" pitchFamily="18" charset="0"/>
              </a:rPr>
              <a:t>Implement stricter pre-approval checks and verification for mid-grade borrowers.</a:t>
            </a:r>
          </a:p>
        </p:txBody>
      </p:sp>
      <p:sp>
        <p:nvSpPr>
          <p:cNvPr id="5" name="Title 1">
            <a:extLst>
              <a:ext uri="{FF2B5EF4-FFF2-40B4-BE49-F238E27FC236}">
                <a16:creationId xmlns:a16="http://schemas.microsoft.com/office/drawing/2014/main" id="{F377D742-5369-4B73-8B3F-B8D4E7C271A4}"/>
              </a:ext>
            </a:extLst>
          </p:cNvPr>
          <p:cNvSpPr txBox="1">
            <a:spLocks/>
          </p:cNvSpPr>
          <p:nvPr/>
        </p:nvSpPr>
        <p:spPr>
          <a:xfrm>
            <a:off x="6078320" y="367584"/>
            <a:ext cx="2978727" cy="398888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1pPr>
            <a:lvl2pPr marR="0" lvl="1"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2pPr>
            <a:lvl3pPr marR="0" lvl="2"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3pPr>
            <a:lvl4pPr marR="0" lvl="3"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4pPr>
            <a:lvl5pPr marR="0" lvl="4"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5pPr>
            <a:lvl6pPr marR="0" lvl="5"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6pPr>
            <a:lvl7pPr marR="0" lvl="6"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7pPr>
            <a:lvl8pPr marR="0" lvl="7"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8pPr>
            <a:lvl9pPr marR="0" lvl="8" algn="l" rtl="0">
              <a:lnSpc>
                <a:spcPct val="100000"/>
              </a:lnSpc>
              <a:spcBef>
                <a:spcPts val="0"/>
              </a:spcBef>
              <a:spcAft>
                <a:spcPts val="0"/>
              </a:spcAft>
              <a:buClr>
                <a:schemeClr val="dk1"/>
              </a:buClr>
              <a:buSzPts val="2600"/>
              <a:buFont typeface="Syne"/>
              <a:buNone/>
              <a:defRPr sz="2600" b="1" i="0" u="none" strike="noStrike" cap="none">
                <a:solidFill>
                  <a:schemeClr val="dk1"/>
                </a:solidFill>
                <a:latin typeface="Syne"/>
                <a:ea typeface="Syne"/>
                <a:cs typeface="Syne"/>
                <a:sym typeface="Syne"/>
              </a:defRPr>
            </a:lvl9pPr>
          </a:lstStyle>
          <a:p>
            <a:r>
              <a:rPr lang="en-GB" sz="1100" b="1" dirty="0">
                <a:latin typeface="Times New Roman" panose="02020603050405020304" pitchFamily="18" charset="0"/>
                <a:cs typeface="Times New Roman" panose="02020603050405020304" pitchFamily="18" charset="0"/>
              </a:rPr>
              <a:t>Loan Maturity is Clustered in a Few Months</a:t>
            </a:r>
          </a:p>
          <a:p>
            <a:endParaRPr lang="en-GB" sz="1100" b="1" dirty="0">
              <a:latin typeface="Times New Roman" panose="02020603050405020304" pitchFamily="18" charset="0"/>
              <a:cs typeface="Times New Roman" panose="02020603050405020304" pitchFamily="18" charset="0"/>
            </a:endParaRPr>
          </a:p>
          <a:p>
            <a:r>
              <a:rPr lang="en-GB" sz="1100" b="0" dirty="0">
                <a:latin typeface="Times New Roman" panose="02020603050405020304" pitchFamily="18" charset="0"/>
                <a:cs typeface="Times New Roman" panose="02020603050405020304" pitchFamily="18" charset="0"/>
              </a:rPr>
              <a:t>Large maturity spikes in January, March, and May.</a:t>
            </a:r>
          </a:p>
          <a:p>
            <a:endParaRPr lang="en-GB" sz="1100" b="0" dirty="0">
              <a:latin typeface="Times New Roman" panose="02020603050405020304" pitchFamily="18" charset="0"/>
              <a:cs typeface="Times New Roman" panose="02020603050405020304" pitchFamily="18" charset="0"/>
            </a:endParaRPr>
          </a:p>
          <a:p>
            <a:r>
              <a:rPr lang="en-GB" sz="1100" b="0" dirty="0">
                <a:latin typeface="Times New Roman" panose="02020603050405020304" pitchFamily="18" charset="0"/>
                <a:cs typeface="Times New Roman" panose="02020603050405020304" pitchFamily="18" charset="0"/>
              </a:rPr>
              <a:t>Problem</a:t>
            </a:r>
          </a:p>
          <a:p>
            <a:r>
              <a:rPr lang="en-GB" sz="1100" b="0" dirty="0">
                <a:latin typeface="Times New Roman" panose="02020603050405020304" pitchFamily="18" charset="0"/>
                <a:cs typeface="Times New Roman" panose="02020603050405020304" pitchFamily="18" charset="0"/>
              </a:rPr>
              <a:t>Creates operational overload for recovery teams.</a:t>
            </a:r>
          </a:p>
          <a:p>
            <a:r>
              <a:rPr lang="en-GB" sz="1100" b="0" dirty="0">
                <a:latin typeface="Times New Roman" panose="02020603050405020304" pitchFamily="18" charset="0"/>
                <a:cs typeface="Times New Roman" panose="02020603050405020304" pitchFamily="18" charset="0"/>
              </a:rPr>
              <a:t>Causes uneven cash flow across months.</a:t>
            </a:r>
          </a:p>
          <a:p>
            <a:endParaRPr lang="en-GB" sz="1100" b="0" dirty="0">
              <a:latin typeface="Times New Roman" panose="02020603050405020304" pitchFamily="18" charset="0"/>
              <a:cs typeface="Times New Roman" panose="02020603050405020304" pitchFamily="18" charset="0"/>
            </a:endParaRPr>
          </a:p>
          <a:p>
            <a:r>
              <a:rPr lang="en-GB" sz="1100" b="0" dirty="0">
                <a:latin typeface="Times New Roman" panose="02020603050405020304" pitchFamily="18" charset="0"/>
                <a:cs typeface="Times New Roman" panose="02020603050405020304" pitchFamily="18" charset="0"/>
              </a:rPr>
              <a:t>Solution</a:t>
            </a:r>
          </a:p>
          <a:p>
            <a:r>
              <a:rPr lang="en-GB" sz="1100" b="0" dirty="0">
                <a:latin typeface="Times New Roman" panose="02020603050405020304" pitchFamily="18" charset="0"/>
                <a:cs typeface="Times New Roman" panose="02020603050405020304" pitchFamily="18" charset="0"/>
              </a:rPr>
              <a:t>Forecast maturity distribution using historical patterns.</a:t>
            </a:r>
          </a:p>
          <a:p>
            <a:r>
              <a:rPr lang="en-GB" sz="1100" b="0" dirty="0">
                <a:latin typeface="Times New Roman" panose="02020603050405020304" pitchFamily="18" charset="0"/>
                <a:cs typeface="Times New Roman" panose="02020603050405020304" pitchFamily="18" charset="0"/>
              </a:rPr>
              <a:t>Plan manpower and recovery strategy for peak months.</a:t>
            </a:r>
          </a:p>
          <a:p>
            <a:endParaRPr lang="en-GB" sz="1100" b="0" dirty="0">
              <a:latin typeface="Times New Roman" panose="02020603050405020304" pitchFamily="18" charset="0"/>
              <a:cs typeface="Times New Roman" panose="02020603050405020304" pitchFamily="18" charset="0"/>
            </a:endParaRPr>
          </a:p>
          <a:p>
            <a:r>
              <a:rPr lang="en-GB" sz="1100" b="0" dirty="0">
                <a:latin typeface="Times New Roman" panose="02020603050405020304" pitchFamily="18" charset="0"/>
                <a:cs typeface="Times New Roman" panose="02020603050405020304" pitchFamily="18" charset="0"/>
              </a:rPr>
              <a:t>Recommendation</a:t>
            </a:r>
          </a:p>
          <a:p>
            <a:r>
              <a:rPr lang="en-GB" sz="1100" b="0" dirty="0">
                <a:latin typeface="Times New Roman" panose="02020603050405020304" pitchFamily="18" charset="0"/>
                <a:cs typeface="Times New Roman" panose="02020603050405020304" pitchFamily="18" charset="0"/>
              </a:rPr>
              <a:t>Evenly distribute new loan disbursements across quarters.</a:t>
            </a:r>
          </a:p>
          <a:p>
            <a:r>
              <a:rPr lang="en-GB" sz="1100" b="0" dirty="0">
                <a:latin typeface="Times New Roman" panose="02020603050405020304" pitchFamily="18" charset="0"/>
                <a:cs typeface="Times New Roman" panose="02020603050405020304" pitchFamily="18" charset="0"/>
              </a:rPr>
              <a:t>Increase temporary recovery teams during peak maturity months.</a:t>
            </a:r>
          </a:p>
        </p:txBody>
      </p:sp>
    </p:spTree>
    <p:extLst>
      <p:ext uri="{BB962C8B-B14F-4D97-AF65-F5344CB8AC3E}">
        <p14:creationId xmlns:p14="http://schemas.microsoft.com/office/powerpoint/2010/main" val="13028532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6">
          <a:extLst>
            <a:ext uri="{FF2B5EF4-FFF2-40B4-BE49-F238E27FC236}">
              <a16:creationId xmlns:a16="http://schemas.microsoft.com/office/drawing/2014/main" id="{03CB5FA0-4E62-D52E-9B41-EDFEF4239730}"/>
            </a:ext>
          </a:extLst>
        </p:cNvPr>
        <p:cNvGrpSpPr/>
        <p:nvPr/>
      </p:nvGrpSpPr>
      <p:grpSpPr>
        <a:xfrm>
          <a:off x="0" y="0"/>
          <a:ext cx="0" cy="0"/>
          <a:chOff x="0" y="0"/>
          <a:chExt cx="0" cy="0"/>
        </a:xfrm>
      </p:grpSpPr>
      <p:sp>
        <p:nvSpPr>
          <p:cNvPr id="127" name="Google Shape;127;p28">
            <a:extLst>
              <a:ext uri="{FF2B5EF4-FFF2-40B4-BE49-F238E27FC236}">
                <a16:creationId xmlns:a16="http://schemas.microsoft.com/office/drawing/2014/main" id="{CA5FACC6-76CA-8CE3-8273-E27BBA1DE413}"/>
              </a:ext>
            </a:extLst>
          </p:cNvPr>
          <p:cNvSpPr txBox="1">
            <a:spLocks noGrp="1"/>
          </p:cNvSpPr>
          <p:nvPr>
            <p:ph type="subTitle" idx="1"/>
          </p:nvPr>
        </p:nvSpPr>
        <p:spPr>
          <a:xfrm>
            <a:off x="5389400" y="2263901"/>
            <a:ext cx="3041400" cy="2340099"/>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sz="1800" dirty="0">
                <a:latin typeface="Times New Roman" panose="02020603050405020304" pitchFamily="18" charset="0"/>
                <a:cs typeface="Times New Roman" panose="02020603050405020304" pitchFamily="18" charset="0"/>
              </a:rPr>
              <a:t>Group Members</a:t>
            </a:r>
          </a:p>
          <a:p>
            <a:pPr marL="0" lvl="0" indent="0" algn="ctr" rtl="0">
              <a:spcBef>
                <a:spcPts val="0"/>
              </a:spcBef>
              <a:spcAft>
                <a:spcPts val="0"/>
              </a:spcAft>
              <a:buNone/>
            </a:pPr>
            <a:endParaRPr lang="en-IN" dirty="0">
              <a:latin typeface="Times New Roman" panose="02020603050405020304" pitchFamily="18" charset="0"/>
              <a:cs typeface="Times New Roman" panose="02020603050405020304" pitchFamily="18" charset="0"/>
            </a:endParaRPr>
          </a:p>
          <a:p>
            <a:pPr marL="0" lvl="0" indent="0" algn="ctr"/>
            <a:r>
              <a:rPr lang="en-IN" sz="1400" dirty="0">
                <a:latin typeface="Times New Roman" panose="02020603050405020304" pitchFamily="18" charset="0"/>
                <a:cs typeface="Times New Roman" panose="02020603050405020304" pitchFamily="18" charset="0"/>
              </a:rPr>
              <a:t>M BHARGAVI</a:t>
            </a:r>
          </a:p>
          <a:p>
            <a:pPr marL="0" lvl="0" indent="0" algn="ctr"/>
            <a:r>
              <a:rPr lang="en-IN" sz="1400" dirty="0">
                <a:latin typeface="Times New Roman" panose="02020603050405020304" pitchFamily="18" charset="0"/>
                <a:cs typeface="Times New Roman" panose="02020603050405020304" pitchFamily="18" charset="0"/>
              </a:rPr>
              <a:t>G ABHILASH</a:t>
            </a:r>
          </a:p>
          <a:p>
            <a:pPr marL="0" lvl="0" indent="0" algn="ctr"/>
            <a:r>
              <a:rPr lang="en-IN" sz="1400" dirty="0">
                <a:latin typeface="Times New Roman" panose="02020603050405020304" pitchFamily="18" charset="0"/>
                <a:cs typeface="Times New Roman" panose="02020603050405020304" pitchFamily="18" charset="0"/>
              </a:rPr>
              <a:t>SURAJ VAIDHYA</a:t>
            </a:r>
          </a:p>
          <a:p>
            <a:pPr marL="0" lvl="0" indent="0" algn="ctr"/>
            <a:r>
              <a:rPr lang="en-IN" sz="1400" dirty="0">
                <a:latin typeface="Times New Roman" panose="02020603050405020304" pitchFamily="18" charset="0"/>
                <a:cs typeface="Times New Roman" panose="02020603050405020304" pitchFamily="18" charset="0"/>
              </a:rPr>
              <a:t>NADEEM.R.V</a:t>
            </a:r>
          </a:p>
          <a:p>
            <a:pPr marL="0" lvl="0" indent="0" algn="ctr"/>
            <a:r>
              <a:rPr lang="en-IN" sz="1400" dirty="0">
                <a:latin typeface="Times New Roman" panose="02020603050405020304" pitchFamily="18" charset="0"/>
                <a:cs typeface="Times New Roman" panose="02020603050405020304" pitchFamily="18" charset="0"/>
              </a:rPr>
              <a:t>K KHUSHUWANTH</a:t>
            </a:r>
          </a:p>
          <a:p>
            <a:pPr marL="0" lvl="0" indent="0" algn="ctr"/>
            <a:r>
              <a:rPr lang="en-IN" sz="1400" dirty="0">
                <a:latin typeface="Times New Roman" panose="02020603050405020304" pitchFamily="18" charset="0"/>
                <a:cs typeface="Times New Roman" panose="02020603050405020304" pitchFamily="18" charset="0"/>
              </a:rPr>
              <a:t>MOHAMMED AFLAH</a:t>
            </a:r>
          </a:p>
          <a:p>
            <a:pPr marL="0" lvl="0" indent="0" algn="ctr"/>
            <a:r>
              <a:rPr lang="en-IN" sz="1400" dirty="0">
                <a:latin typeface="Times New Roman" panose="02020603050405020304" pitchFamily="18" charset="0"/>
                <a:cs typeface="Times New Roman" panose="02020603050405020304" pitchFamily="18" charset="0"/>
              </a:rPr>
              <a:t>B GOWTHAM</a:t>
            </a:r>
          </a:p>
          <a:p>
            <a:pPr marL="0" lvl="0" indent="0" algn="ctr"/>
            <a:endParaRPr lang="en-IN" dirty="0">
              <a:latin typeface="Times New Roman" panose="02020603050405020304" pitchFamily="18" charset="0"/>
              <a:cs typeface="Times New Roman" panose="02020603050405020304" pitchFamily="18" charset="0"/>
            </a:endParaRPr>
          </a:p>
        </p:txBody>
      </p:sp>
      <p:sp>
        <p:nvSpPr>
          <p:cNvPr id="128" name="Google Shape;128;p28">
            <a:extLst>
              <a:ext uri="{FF2B5EF4-FFF2-40B4-BE49-F238E27FC236}">
                <a16:creationId xmlns:a16="http://schemas.microsoft.com/office/drawing/2014/main" id="{BCECD3E3-8C6E-0988-4C80-EFE502D7D75E}"/>
              </a:ext>
            </a:extLst>
          </p:cNvPr>
          <p:cNvSpPr txBox="1">
            <a:spLocks noGrp="1"/>
          </p:cNvSpPr>
          <p:nvPr>
            <p:ph type="ctrTitle"/>
          </p:nvPr>
        </p:nvSpPr>
        <p:spPr>
          <a:xfrm>
            <a:off x="713300" y="766272"/>
            <a:ext cx="7717500" cy="907200"/>
          </a:xfrm>
          <a:prstGeom prst="rect">
            <a:avLst/>
          </a:prstGeom>
        </p:spPr>
        <p:txBody>
          <a:bodyPr spcFirstLastPara="1" wrap="square" lIns="91425" tIns="91425" rIns="91425" bIns="91425" anchor="b" anchorCtr="0">
            <a:noAutofit/>
          </a:bodyPr>
          <a:lstStyle/>
          <a:p>
            <a:pPr lvl="0"/>
            <a:r>
              <a:rPr lang="en-IN" sz="4800" dirty="0">
                <a:latin typeface="Times New Roman" panose="02020603050405020304" pitchFamily="18" charset="0"/>
                <a:cs typeface="Times New Roman" panose="02020603050405020304" pitchFamily="18" charset="0"/>
              </a:rPr>
              <a:t>Thank You</a:t>
            </a:r>
            <a:endParaRPr sz="4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7739293"/>
      </p:ext>
    </p:extLst>
  </p:cSld>
  <p:clrMapOvr>
    <a:masterClrMapping/>
  </p:clrMapOvr>
</p:sld>
</file>

<file path=ppt/theme/theme1.xml><?xml version="1.0" encoding="utf-8"?>
<a:theme xmlns:a="http://schemas.openxmlformats.org/drawingml/2006/main" name="Tech Startup by Slidesgo">
  <a:themeElements>
    <a:clrScheme name="Simple Light">
      <a:dk1>
        <a:srgbClr val="FFFFFF"/>
      </a:dk1>
      <a:lt1>
        <a:srgbClr val="091060"/>
      </a:lt1>
      <a:dk2>
        <a:srgbClr val="7247B8"/>
      </a:dk2>
      <a:lt2>
        <a:srgbClr val="0DEEE7"/>
      </a:lt2>
      <a:accent1>
        <a:srgbClr val="01507C"/>
      </a:accent1>
      <a:accent2>
        <a:srgbClr val="15D2CB"/>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904</TotalTime>
  <Words>1390</Words>
  <Application>Microsoft Office PowerPoint</Application>
  <PresentationFormat>On-screen Show (16:9)</PresentationFormat>
  <Paragraphs>167</Paragraphs>
  <Slides>9</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Syne</vt:lpstr>
      <vt:lpstr>Arial</vt:lpstr>
      <vt:lpstr>Times New Roman</vt:lpstr>
      <vt:lpstr>Syne SemiBold</vt:lpstr>
      <vt:lpstr>Albert Sans</vt:lpstr>
      <vt:lpstr>Tech Startup by Slidesgo</vt:lpstr>
      <vt:lpstr>Banking Data Analysis</vt:lpstr>
      <vt:lpstr>Challenges Faced During Cleaning</vt:lpstr>
      <vt:lpstr>Credit &amp; Debit Are Almost Equal → Net Amount Is Negative  Total Credit: ~115M Total Debit: ~115.38M Net Amount: –349K The bank is losing more money than it gains.  Problem High debit outflow compared to credit inflow. Some banks or branches show higher debit patterns (expenses, refunds, withdrawals).  Solution Identify customer segments or branches responsible for the extra debit. Introduce automated alerts for abnormal debit patterns.  Recommendation Launch high-interest savings products to increase deposits. Implement monthly debit monitoring dashboard for early detection of high outflows. </vt:lpstr>
      <vt:lpstr>Branch-Level Performance Shows Low Variance But No Clear Leaders  All branches (East, City Centre, Suburban, Main Branch) show similar total transaction amounts around 19M.  No branch is significantly outperforming  → flat performance.  Problem Lack of branch differentiation. Branch managers may not focus on targeted growth.  Solution Introduce branch KPIs: Customer acquisition rate Credit-to-debit improvement metric Cross-sell success rate  Recommendation Implement performance-based incentive programs to drive branch-specific improvements. </vt:lpstr>
      <vt:lpstr>Loan Analytics Data  Our dashboard highlights five major risks:      Product concentration    Geographic imbalance     Borrower quality skew    Customer segment underrepresentation    Seasonal maturity peaks.   Through targeted product diversification, geographic expansion, credit policy strengthening, loan calendar optimization, and data-driven segmentation, the bank can significantly enhance profitability, reduce risk, and build a more inclusive, balanced, and scalable loan portfolio.”</vt:lpstr>
      <vt:lpstr>PowerPoint Presentation</vt:lpstr>
      <vt:lpstr>Key Insights with Recommendations</vt:lpstr>
      <vt:lpstr>Religious Segmentation Is Skewed (Hindu Customers = 75%+)  The borrower base is not evenly distributed across religious segments.  Problem Bank is missing opportunities to capture a broader customer base. Indicates lack of inclusive marketing and outreach.  Solution Analyse customer acquisition funnels by religion, region, income group. Identify barriers preventing minority groups from applying.  Recommendation Create inclusive loan products and campaigns targeted at underserved segments. Partner with community groups/NGOs to improve trust and reach.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&amp; Deposit Analysis Dashboard</dc:title>
  <dc:creator>ABHILASH</dc:creator>
  <cp:lastModifiedBy>suraj vaidhya</cp:lastModifiedBy>
  <cp:revision>32</cp:revision>
  <dcterms:modified xsi:type="dcterms:W3CDTF">2025-11-25T16:27:07Z</dcterms:modified>
</cp:coreProperties>
</file>